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2000"/>
  <p:notesSz cx="6858000" cy="9144000"/>
  <p:embeddedFontLst>
    <p:embeddedFont>
      <p:font typeface="Poppins"/>
      <p:regular r:id="rId18"/>
      <p:bold r:id="rId19"/>
      <p:italic r:id="rId20"/>
      <p:boldItalic r:id="rId21"/>
    </p:embeddedFont>
    <p:embeddedFont>
      <p:font typeface="Lato"/>
      <p:regular r:id="rId22"/>
      <p:bold r:id="rId23"/>
      <p:italic r:id="rId24"/>
      <p:boldItalic r:id="rId25"/>
    </p:embeddedFont>
    <p:embeddedFont>
      <p:font typeface="Lato Light"/>
      <p:regular r:id="rId26"/>
      <p:bold r:id="rId27"/>
      <p:italic r:id="rId28"/>
      <p:boldItalic r:id="rId29"/>
    </p:embeddedFont>
    <p:embeddedFont>
      <p:font typeface="Poppins SemiBold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97E08BE-8267-4D93-ACFD-58272A13BF4F}">
  <a:tblStyle styleId="{C97E08BE-8267-4D93-ACFD-58272A13BF4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italic.fntdata"/><Relationship Id="rId22" Type="http://schemas.openxmlformats.org/officeDocument/2006/relationships/font" Target="fonts/Lato-regular.fntdata"/><Relationship Id="rId21" Type="http://schemas.openxmlformats.org/officeDocument/2006/relationships/font" Target="fonts/Poppins-boldItalic.fntdata"/><Relationship Id="rId24" Type="http://schemas.openxmlformats.org/officeDocument/2006/relationships/font" Target="fonts/Lato-italic.fntdata"/><Relationship Id="rId23" Type="http://schemas.openxmlformats.org/officeDocument/2006/relationships/font" Target="fonts/La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Light-regular.fntdata"/><Relationship Id="rId25" Type="http://schemas.openxmlformats.org/officeDocument/2006/relationships/font" Target="fonts/Lato-boldItalic.fntdata"/><Relationship Id="rId28" Type="http://schemas.openxmlformats.org/officeDocument/2006/relationships/font" Target="fonts/LatoLight-italic.fntdata"/><Relationship Id="rId27" Type="http://schemas.openxmlformats.org/officeDocument/2006/relationships/font" Target="fonts/LatoLight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LatoLight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oppinsSemiBold-bold.fntdata"/><Relationship Id="rId30" Type="http://schemas.openxmlformats.org/officeDocument/2006/relationships/font" Target="fonts/PoppinsSemiBold-regular.fntdata"/><Relationship Id="rId11" Type="http://schemas.openxmlformats.org/officeDocument/2006/relationships/slide" Target="slides/slide5.xml"/><Relationship Id="rId33" Type="http://schemas.openxmlformats.org/officeDocument/2006/relationships/font" Target="fonts/PoppinsSemiBold-boldItalic.fntdata"/><Relationship Id="rId10" Type="http://schemas.openxmlformats.org/officeDocument/2006/relationships/slide" Target="slides/slide4.xml"/><Relationship Id="rId32" Type="http://schemas.openxmlformats.org/officeDocument/2006/relationships/font" Target="fonts/PoppinsSemiBold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Poppins-bold.fntdata"/><Relationship Id="rId18" Type="http://schemas.openxmlformats.org/officeDocument/2006/relationships/font" Target="fonts/Poppi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5" Type="http://schemas.openxmlformats.org/officeDocument/2006/relationships/image" Target="../media/image8.png"/><Relationship Id="rId6" Type="http://schemas.openxmlformats.org/officeDocument/2006/relationships/image" Target="../media/image27.png"/><Relationship Id="rId7" Type="http://schemas.openxmlformats.org/officeDocument/2006/relationships/image" Target="../media/image3.png"/><Relationship Id="rId8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20.png"/><Relationship Id="rId5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7.png"/><Relationship Id="rId5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7.png"/><Relationship Id="rId5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7.png"/><Relationship Id="rId5" Type="http://schemas.openxmlformats.org/officeDocument/2006/relationships/image" Target="../media/image18.png"/><Relationship Id="rId6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28.png"/><Relationship Id="rId5" Type="http://schemas.openxmlformats.org/officeDocument/2006/relationships/image" Target="../media/image17.png"/><Relationship Id="rId6" Type="http://schemas.openxmlformats.org/officeDocument/2006/relationships/image" Target="../media/image25.png"/><Relationship Id="rId7" Type="http://schemas.openxmlformats.org/officeDocument/2006/relationships/image" Target="../media/image11.png"/><Relationship Id="rId8" Type="http://schemas.openxmlformats.org/officeDocument/2006/relationships/image" Target="../media/image2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19277" y="3689895"/>
            <a:ext cx="3753445" cy="2360116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455419" y="807839"/>
            <a:ext cx="9281160" cy="16457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AI-Powered Waste Sorting System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676400" y="2644080"/>
            <a:ext cx="88392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0B981"/>
                </a:solidFill>
                <a:latin typeface="Lato Light"/>
                <a:ea typeface="Lato Light"/>
                <a:cs typeface="Lato Light"/>
                <a:sym typeface="Lato Light"/>
              </a:rPr>
              <a:t>Integrating Deep Learning with Robust Database Management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4535492" y="4080420"/>
            <a:ext cx="3121015" cy="41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Dhruv Kannojia</a:t>
            </a:r>
            <a:endParaRPr/>
          </a:p>
        </p:txBody>
      </p:sp>
      <p:sp>
        <p:nvSpPr>
          <p:cNvPr id="89" name="Google Shape;89;p13"/>
          <p:cNvSpPr/>
          <p:nvPr/>
        </p:nvSpPr>
        <p:spPr>
          <a:xfrm>
            <a:off x="5857875" y="4587031"/>
            <a:ext cx="476250" cy="285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4609802" y="4863256"/>
            <a:ext cx="297239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590011908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4609800" y="5354675"/>
            <a:ext cx="3046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Dhruv.11908@stu.upes.ac.in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6" name="Google Shape;9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50901"/>
            <a:ext cx="3492549" cy="30475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450901"/>
            <a:ext cx="3492549" cy="30475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450901"/>
            <a:ext cx="3492549" cy="3047553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571500" y="571500"/>
            <a:ext cx="11601450" cy="567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Project Overview</a:t>
            </a:r>
            <a:endParaRPr/>
          </a:p>
        </p:txBody>
      </p:sp>
      <p:sp>
        <p:nvSpPr>
          <p:cNvPr id="101" name="Google Shape;101;p14"/>
          <p:cNvSpPr/>
          <p:nvPr/>
        </p:nvSpPr>
        <p:spPr>
          <a:xfrm>
            <a:off x="571500" y="126295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794225" y="3479601"/>
            <a:ext cx="3047099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Problem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866775" y="4054822"/>
            <a:ext cx="2901999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Inefficient manual sorting leads to contamination and low recycling rates.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4572524" y="3479601"/>
            <a:ext cx="3047099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Solution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4645074" y="4054822"/>
            <a:ext cx="2901999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An automated hybrid system using CNNs for vision and SQL for intelligence.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8350824" y="3479601"/>
            <a:ext cx="3047099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Analytics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8423374" y="4054822"/>
            <a:ext cx="2901999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Using DBMS to audit performance and optimize the sorting process.</a:t>
            </a:r>
            <a:endParaRPr/>
          </a:p>
        </p:txBody>
      </p:sp>
      <p:pic>
        <p:nvPicPr>
          <p:cNvPr descr="image.png" id="108" name="Google Shape;108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89100" y="2793801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67400" y="2793801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45699" y="2793801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5" name="Google Shape;11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571500" y="571500"/>
            <a:ext cx="5200650" cy="1279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Manual Sorting Challenges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571500" y="2346721"/>
            <a:ext cx="495300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Traditional waste management relies heavily on manual labor, which is slow, hazardous, and error-prone.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571500" y="3704629"/>
            <a:ext cx="4953000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As waste volume increases globally, the inability to quickly and accurately separate recyclables from landfills results in massive environmental and economic loss.</a:t>
            </a:r>
            <a:endParaRPr/>
          </a:p>
        </p:txBody>
      </p:sp>
      <p:pic>
        <p:nvPicPr>
          <p:cNvPr descr="image.png" id="119" name="Google Shape;11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571500" y="5378648"/>
            <a:ext cx="4953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476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High Contamination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571500" y="5856684"/>
            <a:ext cx="4953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476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Slow Processing Speed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571500" y="6334720"/>
            <a:ext cx="4953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476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Lack of Data Auditing</a:t>
            </a:r>
            <a:endParaRPr/>
          </a:p>
        </p:txBody>
      </p:sp>
      <p:pic>
        <p:nvPicPr>
          <p:cNvPr descr="image.png" id="123" name="Google Shape;12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5440560"/>
            <a:ext cx="1524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5918596"/>
            <a:ext cx="1524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6396632"/>
            <a:ext cx="15240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0" name="Google Shape;13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069752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/>
        </p:nvSpPr>
        <p:spPr>
          <a:xfrm>
            <a:off x="571500" y="571500"/>
            <a:ext cx="11601450" cy="567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System Architecture</a:t>
            </a:r>
            <a:endParaRPr/>
          </a:p>
        </p:txBody>
      </p:sp>
      <p:sp>
        <p:nvSpPr>
          <p:cNvPr id="133" name="Google Shape;133;p16"/>
          <p:cNvSpPr/>
          <p:nvPr/>
        </p:nvSpPr>
        <p:spPr>
          <a:xfrm>
            <a:off x="571500" y="126295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 txBox="1"/>
          <p:nvPr/>
        </p:nvSpPr>
        <p:spPr>
          <a:xfrm>
            <a:off x="571500" y="2172890"/>
            <a:ext cx="5500687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 Hybrid Pipeline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571500" y="2748111"/>
            <a:ext cx="5238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The system is designed as a unidirectional data pipeline with a feedback loop for analytics.</a:t>
            </a:r>
            <a:endParaRPr/>
          </a:p>
        </p:txBody>
      </p:sp>
      <p:pic>
        <p:nvPicPr>
          <p:cNvPr descr="image.png" id="136" name="Google Shape;13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069752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/>
          <p:nvPr/>
        </p:nvSpPr>
        <p:spPr>
          <a:xfrm>
            <a:off x="571500" y="3570833"/>
            <a:ext cx="5238750" cy="620910"/>
          </a:xfrm>
          <a:prstGeom prst="roundRect">
            <a:avLst>
              <a:gd fmla="val 12272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 txBox="1"/>
          <p:nvPr/>
        </p:nvSpPr>
        <p:spPr>
          <a:xfrm>
            <a:off x="714375" y="3713708"/>
            <a:ext cx="4953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1. Input: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Unsorted images from file system.</a:t>
            </a:r>
            <a:endParaRPr/>
          </a:p>
        </p:txBody>
      </p:sp>
      <p:sp>
        <p:nvSpPr>
          <p:cNvPr id="139" name="Google Shape;139;p16"/>
          <p:cNvSpPr/>
          <p:nvPr/>
        </p:nvSpPr>
        <p:spPr>
          <a:xfrm>
            <a:off x="571500" y="3570833"/>
            <a:ext cx="38100" cy="62091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571500" y="4286994"/>
            <a:ext cx="5238750" cy="620910"/>
          </a:xfrm>
          <a:prstGeom prst="roundRect">
            <a:avLst>
              <a:gd fmla="val 12272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 txBox="1"/>
          <p:nvPr/>
        </p:nvSpPr>
        <p:spPr>
          <a:xfrm>
            <a:off x="714375" y="4429869"/>
            <a:ext cx="4953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2. AI Core: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CNN classifies the image.</a:t>
            </a:r>
            <a:endParaRPr/>
          </a:p>
        </p:txBody>
      </p:sp>
      <p:sp>
        <p:nvSpPr>
          <p:cNvPr id="142" name="Google Shape;142;p16"/>
          <p:cNvSpPr/>
          <p:nvPr/>
        </p:nvSpPr>
        <p:spPr>
          <a:xfrm>
            <a:off x="571500" y="4286994"/>
            <a:ext cx="38100" cy="62091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571500" y="5003155"/>
            <a:ext cx="5238750" cy="620910"/>
          </a:xfrm>
          <a:prstGeom prst="roundRect">
            <a:avLst>
              <a:gd fmla="val 12272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 txBox="1"/>
          <p:nvPr/>
        </p:nvSpPr>
        <p:spPr>
          <a:xfrm>
            <a:off x="714375" y="5146030"/>
            <a:ext cx="4953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3. DBMS: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MySQL logs the result permanently.</a:t>
            </a:r>
            <a:endParaRPr/>
          </a:p>
        </p:txBody>
      </p:sp>
      <p:sp>
        <p:nvSpPr>
          <p:cNvPr id="145" name="Google Shape;145;p16"/>
          <p:cNvSpPr/>
          <p:nvPr/>
        </p:nvSpPr>
        <p:spPr>
          <a:xfrm>
            <a:off x="571500" y="5003155"/>
            <a:ext cx="38100" cy="62091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0" name="Google Shape;15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69752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7"/>
          <p:cNvSpPr txBox="1"/>
          <p:nvPr/>
        </p:nvSpPr>
        <p:spPr>
          <a:xfrm>
            <a:off x="571500" y="571500"/>
            <a:ext cx="11601450" cy="567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AI Component: CNN</a:t>
            </a:r>
            <a:endParaRPr/>
          </a:p>
        </p:txBody>
      </p:sp>
      <p:sp>
        <p:nvSpPr>
          <p:cNvPr id="153" name="Google Shape;153;p17"/>
          <p:cNvSpPr/>
          <p:nvPr/>
        </p:nvSpPr>
        <p:spPr>
          <a:xfrm>
            <a:off x="571500" y="126295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4" name="Google Shape;15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069752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7"/>
          <p:cNvSpPr txBox="1"/>
          <p:nvPr/>
        </p:nvSpPr>
        <p:spPr>
          <a:xfrm>
            <a:off x="6381750" y="2244179"/>
            <a:ext cx="5500687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Deep Learning Model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6381750" y="2819400"/>
            <a:ext cx="5238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We trained a Convolutional Neural Network (CNN) using TensorFlow and Keras.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6381750" y="5013721"/>
            <a:ext cx="52387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The model processes 128x128 pixel images and outputs a probability score for classification.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6381750" y="3775471"/>
            <a:ext cx="52387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Dataset Size </a:t>
            </a:r>
            <a:r>
              <a:rPr b="1" i="0" lang="en-US" sz="1200" u="none" cap="none" strike="noStrike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5,927 Images</a:t>
            </a:r>
            <a:endParaRPr/>
          </a:p>
        </p:txBody>
      </p:sp>
      <p:sp>
        <p:nvSpPr>
          <p:cNvPr id="159" name="Google Shape;159;p17"/>
          <p:cNvSpPr/>
          <p:nvPr/>
        </p:nvSpPr>
        <p:spPr>
          <a:xfrm>
            <a:off x="6381750" y="4051696"/>
            <a:ext cx="52387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7"/>
          <p:cNvSpPr txBox="1"/>
          <p:nvPr/>
        </p:nvSpPr>
        <p:spPr>
          <a:xfrm>
            <a:off x="6381750" y="4156471"/>
            <a:ext cx="52387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Categories </a:t>
            </a:r>
            <a:r>
              <a:rPr b="1" i="0" lang="en-US" sz="1200" u="none" cap="none" strike="noStrike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10 Classes</a:t>
            </a:r>
            <a:endParaRPr/>
          </a:p>
        </p:txBody>
      </p:sp>
      <p:sp>
        <p:nvSpPr>
          <p:cNvPr id="161" name="Google Shape;161;p17"/>
          <p:cNvSpPr/>
          <p:nvPr/>
        </p:nvSpPr>
        <p:spPr>
          <a:xfrm>
            <a:off x="6381750" y="4432696"/>
            <a:ext cx="52387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7"/>
          <p:cNvSpPr txBox="1"/>
          <p:nvPr/>
        </p:nvSpPr>
        <p:spPr>
          <a:xfrm>
            <a:off x="6381750" y="4537471"/>
            <a:ext cx="52387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Validation Accuracy </a:t>
            </a:r>
            <a:r>
              <a:rPr b="1" i="0" lang="en-US" sz="1200" u="none" cap="none" strike="noStrike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~88.7%</a:t>
            </a:r>
            <a:endParaRPr/>
          </a:p>
        </p:txBody>
      </p:sp>
      <p:sp>
        <p:nvSpPr>
          <p:cNvPr id="163" name="Google Shape;163;p17"/>
          <p:cNvSpPr/>
          <p:nvPr/>
        </p:nvSpPr>
        <p:spPr>
          <a:xfrm>
            <a:off x="6381750" y="4813696"/>
            <a:ext cx="52387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8" name="Google Shape;16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069752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902124"/>
            <a:ext cx="5238750" cy="158115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8"/>
          <p:cNvSpPr txBox="1"/>
          <p:nvPr/>
        </p:nvSpPr>
        <p:spPr>
          <a:xfrm>
            <a:off x="571500" y="571500"/>
            <a:ext cx="11601450" cy="567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Core: MySQL Database</a:t>
            </a:r>
            <a:endParaRPr/>
          </a:p>
        </p:txBody>
      </p:sp>
      <p:sp>
        <p:nvSpPr>
          <p:cNvPr id="172" name="Google Shape;172;p18"/>
          <p:cNvSpPr/>
          <p:nvPr/>
        </p:nvSpPr>
        <p:spPr>
          <a:xfrm>
            <a:off x="571500" y="126295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8"/>
          <p:cNvSpPr txBox="1"/>
          <p:nvPr/>
        </p:nvSpPr>
        <p:spPr>
          <a:xfrm>
            <a:off x="571500" y="2466082"/>
            <a:ext cx="5500687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Centralized Logging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571500" y="3041302"/>
            <a:ext cx="5238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The database is not just storage; it is the audit trail. Every single AI decision is captured in real-time.</a:t>
            </a:r>
            <a:endParaRPr/>
          </a:p>
        </p:txBody>
      </p:sp>
      <p:pic>
        <p:nvPicPr>
          <p:cNvPr descr="image.png" id="175" name="Google Shape;175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2069752"/>
            <a:ext cx="5238750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0" name="Google Shape;18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69752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9"/>
          <p:cNvSpPr txBox="1"/>
          <p:nvPr/>
        </p:nvSpPr>
        <p:spPr>
          <a:xfrm>
            <a:off x="571500" y="571500"/>
            <a:ext cx="11601450" cy="567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Integration: The "Glue" Code</a:t>
            </a:r>
            <a:endParaRPr/>
          </a:p>
        </p:txBody>
      </p:sp>
      <p:sp>
        <p:nvSpPr>
          <p:cNvPr id="183" name="Google Shape;183;p19"/>
          <p:cNvSpPr/>
          <p:nvPr/>
        </p:nvSpPr>
        <p:spPr>
          <a:xfrm>
            <a:off x="571500" y="126295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84" name="Google Shape;184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069752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9"/>
          <p:cNvSpPr txBox="1"/>
          <p:nvPr/>
        </p:nvSpPr>
        <p:spPr>
          <a:xfrm>
            <a:off x="6381750" y="2128242"/>
            <a:ext cx="5500687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Python Deployment Script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6381750" y="2703462"/>
            <a:ext cx="523875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 single Python script (`deploy_sorter.py`) orchestrates the entire operation, connecting the File System, AI Model, and Database.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6762750" y="3899445"/>
            <a:ext cx="48577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1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Load: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Initializes the trained Keras model.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6762750" y="4377481"/>
            <a:ext cx="48577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381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Predict: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Generates category &amp; confidence.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6762750" y="4855517"/>
            <a:ext cx="48577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381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Move: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Physically sorts the file using `shutil`.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6762750" y="5333553"/>
            <a:ext cx="48577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Log: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Executes SQL `INSERT` command.</a:t>
            </a:r>
            <a:endParaRPr/>
          </a:p>
        </p:txBody>
      </p:sp>
      <p:pic>
        <p:nvPicPr>
          <p:cNvPr descr="image.png" id="191" name="Google Shape;191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62750" y="3961358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62750" y="4439394"/>
            <a:ext cx="2381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762750" y="4917430"/>
            <a:ext cx="2381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762750" y="5395466"/>
            <a:ext cx="180975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9" name="Google Shape;19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63005"/>
            <a:ext cx="11049000" cy="4623494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0"/>
          <p:cNvSpPr txBox="1"/>
          <p:nvPr/>
        </p:nvSpPr>
        <p:spPr>
          <a:xfrm>
            <a:off x="571500" y="571500"/>
            <a:ext cx="11601450" cy="567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Result 1: Waste Frequency Analysis</a:t>
            </a:r>
            <a:endParaRPr/>
          </a:p>
        </p:txBody>
      </p:sp>
      <p:sp>
        <p:nvSpPr>
          <p:cNvPr id="202" name="Google Shape;202;p20"/>
          <p:cNvSpPr/>
          <p:nvPr/>
        </p:nvSpPr>
        <p:spPr>
          <a:xfrm>
            <a:off x="571500" y="126295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571500" y="2768947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Querying the database reveals the composition of the waste stream, allowing for optimized resource allocation.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8" name="Google Shape;20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44105"/>
            <a:ext cx="11049000" cy="3474541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1"/>
          <p:cNvSpPr txBox="1"/>
          <p:nvPr/>
        </p:nvSpPr>
        <p:spPr>
          <a:xfrm>
            <a:off x="571500" y="539353"/>
            <a:ext cx="11601450" cy="567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Result 2: Model Confidence Audit</a:t>
            </a:r>
            <a:endParaRPr/>
          </a:p>
        </p:txBody>
      </p:sp>
      <p:sp>
        <p:nvSpPr>
          <p:cNvPr id="211" name="Google Shape;211;p21"/>
          <p:cNvSpPr/>
          <p:nvPr/>
        </p:nvSpPr>
        <p:spPr>
          <a:xfrm>
            <a:off x="571500" y="1230808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1"/>
          <p:cNvSpPr txBox="1"/>
          <p:nvPr/>
        </p:nvSpPr>
        <p:spPr>
          <a:xfrm>
            <a:off x="571500" y="1840408"/>
            <a:ext cx="110490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The DBMS allows us to filter for low-confidence predictions. These records are critical for identifying where the model needs re-training.</a:t>
            </a:r>
            <a:endParaRPr/>
          </a:p>
        </p:txBody>
      </p:sp>
      <p:sp>
        <p:nvSpPr>
          <p:cNvPr id="213" name="Google Shape;213;p21"/>
          <p:cNvSpPr txBox="1"/>
          <p:nvPr/>
        </p:nvSpPr>
        <p:spPr>
          <a:xfrm>
            <a:off x="762000" y="3034605"/>
            <a:ext cx="112014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SQL Query: Low Confidence Warning</a:t>
            </a:r>
            <a:endParaRPr/>
          </a:p>
        </p:txBody>
      </p:sp>
      <p:sp>
        <p:nvSpPr>
          <p:cNvPr id="214" name="Google Shape;214;p21"/>
          <p:cNvSpPr txBox="1"/>
          <p:nvPr/>
        </p:nvSpPr>
        <p:spPr>
          <a:xfrm>
            <a:off x="762000" y="3571726"/>
            <a:ext cx="106680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A5B4FC"/>
                </a:solidFill>
                <a:latin typeface="Arial"/>
                <a:ea typeface="Arial"/>
                <a:cs typeface="Arial"/>
                <a:sym typeface="Arial"/>
              </a:rPr>
              <a:t>SELECT file_name, ai_prediction, prediction_score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A5B4FC"/>
                </a:solidFill>
                <a:latin typeface="Arial"/>
                <a:ea typeface="Arial"/>
                <a:cs typeface="Arial"/>
                <a:sym typeface="Arial"/>
              </a:rPr>
              <a:t> FROM SORTING_LOGS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A5B4FC"/>
                </a:solidFill>
                <a:latin typeface="Arial"/>
                <a:ea typeface="Arial"/>
                <a:cs typeface="Arial"/>
                <a:sym typeface="Arial"/>
              </a:rPr>
              <a:t> WHERE prediction_score &lt; 0.80;</a:t>
            </a:r>
            <a:endParaRPr/>
          </a:p>
        </p:txBody>
      </p:sp>
      <p:graphicFrame>
        <p:nvGraphicFramePr>
          <p:cNvPr id="215" name="Google Shape;215;p21"/>
          <p:cNvGraphicFramePr/>
          <p:nvPr/>
        </p:nvGraphicFramePr>
        <p:xfrm>
          <a:off x="762000" y="458509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{C97E08BE-8267-4D93-ACFD-58272A13BF4F}</a:tableStyleId>
              </a:tblPr>
              <a:tblGrid>
                <a:gridCol w="2744400"/>
                <a:gridCol w="2722225"/>
                <a:gridCol w="1859000"/>
                <a:gridCol w="3342375"/>
              </a:tblGrid>
              <a:tr h="51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10B98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File Name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10B98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Prediction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10B98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Score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10B98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Action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img_042.jpg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Plastic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EF444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0.6540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Manual Review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scan_99.jpg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Metal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59E0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0.7812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Flagged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6" name="Google Shape;216;p21"/>
          <p:cNvSpPr/>
          <p:nvPr/>
        </p:nvSpPr>
        <p:spPr>
          <a:xfrm>
            <a:off x="762000" y="5089921"/>
            <a:ext cx="274439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1"/>
          <p:cNvSpPr/>
          <p:nvPr/>
        </p:nvSpPr>
        <p:spPr>
          <a:xfrm>
            <a:off x="3506390" y="5089921"/>
            <a:ext cx="2722215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1"/>
          <p:cNvSpPr/>
          <p:nvPr/>
        </p:nvSpPr>
        <p:spPr>
          <a:xfrm>
            <a:off x="6228605" y="5089921"/>
            <a:ext cx="1859012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1"/>
          <p:cNvSpPr/>
          <p:nvPr/>
        </p:nvSpPr>
        <p:spPr>
          <a:xfrm>
            <a:off x="8087617" y="5089921"/>
            <a:ext cx="3342382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1"/>
          <p:cNvSpPr/>
          <p:nvPr/>
        </p:nvSpPr>
        <p:spPr>
          <a:xfrm>
            <a:off x="762000" y="5609034"/>
            <a:ext cx="274439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1"/>
          <p:cNvSpPr/>
          <p:nvPr/>
        </p:nvSpPr>
        <p:spPr>
          <a:xfrm>
            <a:off x="3506390" y="5609034"/>
            <a:ext cx="272221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1"/>
          <p:cNvSpPr/>
          <p:nvPr/>
        </p:nvSpPr>
        <p:spPr>
          <a:xfrm>
            <a:off x="6228605" y="5609034"/>
            <a:ext cx="185901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1"/>
          <p:cNvSpPr/>
          <p:nvPr/>
        </p:nvSpPr>
        <p:spPr>
          <a:xfrm>
            <a:off x="8087617" y="5609034"/>
            <a:ext cx="334238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1"/>
          <p:cNvSpPr/>
          <p:nvPr/>
        </p:nvSpPr>
        <p:spPr>
          <a:xfrm>
            <a:off x="762000" y="6113859"/>
            <a:ext cx="274439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1"/>
          <p:cNvSpPr/>
          <p:nvPr/>
        </p:nvSpPr>
        <p:spPr>
          <a:xfrm>
            <a:off x="3506390" y="6113859"/>
            <a:ext cx="272221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1"/>
          <p:cNvSpPr/>
          <p:nvPr/>
        </p:nvSpPr>
        <p:spPr>
          <a:xfrm>
            <a:off x="6228605" y="6113859"/>
            <a:ext cx="185901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1"/>
          <p:cNvSpPr/>
          <p:nvPr/>
        </p:nvSpPr>
        <p:spPr>
          <a:xfrm>
            <a:off x="8087617" y="6113859"/>
            <a:ext cx="334238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2" name="Google Shape;23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3" name="Google Shape;23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73808"/>
            <a:ext cx="3492549" cy="23427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373808"/>
            <a:ext cx="3492549" cy="23427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373808"/>
            <a:ext cx="3492549" cy="2342703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2"/>
          <p:cNvSpPr txBox="1"/>
          <p:nvPr/>
        </p:nvSpPr>
        <p:spPr>
          <a:xfrm>
            <a:off x="571500" y="571500"/>
            <a:ext cx="11601450" cy="567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Conclusion</a:t>
            </a:r>
            <a:endParaRPr/>
          </a:p>
        </p:txBody>
      </p:sp>
      <p:sp>
        <p:nvSpPr>
          <p:cNvPr id="237" name="Google Shape;237;p22"/>
          <p:cNvSpPr/>
          <p:nvPr/>
        </p:nvSpPr>
        <p:spPr>
          <a:xfrm>
            <a:off x="571500" y="126295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2"/>
          <p:cNvSpPr txBox="1"/>
          <p:nvPr/>
        </p:nvSpPr>
        <p:spPr>
          <a:xfrm>
            <a:off x="571500" y="5097512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The system is scalable, auditable, and ready for future deployment.</a:t>
            </a:r>
            <a:endParaRPr/>
          </a:p>
        </p:txBody>
      </p:sp>
      <p:sp>
        <p:nvSpPr>
          <p:cNvPr id="239" name="Google Shape;239;p22"/>
          <p:cNvSpPr txBox="1"/>
          <p:nvPr/>
        </p:nvSpPr>
        <p:spPr>
          <a:xfrm>
            <a:off x="794225" y="2697658"/>
            <a:ext cx="3047099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Success</a:t>
            </a:r>
            <a:endParaRPr/>
          </a:p>
        </p:txBody>
      </p:sp>
      <p:sp>
        <p:nvSpPr>
          <p:cNvPr id="240" name="Google Shape;240;p22"/>
          <p:cNvSpPr txBox="1"/>
          <p:nvPr/>
        </p:nvSpPr>
        <p:spPr>
          <a:xfrm>
            <a:off x="866775" y="3272879"/>
            <a:ext cx="2901999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Successfully automated the classification of 120 test images with high accuracy.</a:t>
            </a:r>
            <a:endParaRPr/>
          </a:p>
        </p:txBody>
      </p:sp>
      <p:sp>
        <p:nvSpPr>
          <p:cNvPr id="241" name="Google Shape;241;p22"/>
          <p:cNvSpPr txBox="1"/>
          <p:nvPr/>
        </p:nvSpPr>
        <p:spPr>
          <a:xfrm>
            <a:off x="4572524" y="2697658"/>
            <a:ext cx="3047099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Integration</a:t>
            </a:r>
            <a:endParaRPr/>
          </a:p>
        </p:txBody>
      </p:sp>
      <p:sp>
        <p:nvSpPr>
          <p:cNvPr id="242" name="Google Shape;242;p22"/>
          <p:cNvSpPr txBox="1"/>
          <p:nvPr/>
        </p:nvSpPr>
        <p:spPr>
          <a:xfrm>
            <a:off x="4645074" y="3272879"/>
            <a:ext cx="2901999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Demonstrated seamless data flow between Python ML logic and MySQL storage.</a:t>
            </a:r>
            <a:endParaRPr/>
          </a:p>
        </p:txBody>
      </p:sp>
      <p:sp>
        <p:nvSpPr>
          <p:cNvPr id="243" name="Google Shape;243;p22"/>
          <p:cNvSpPr txBox="1"/>
          <p:nvPr/>
        </p:nvSpPr>
        <p:spPr>
          <a:xfrm>
            <a:off x="8350824" y="2697658"/>
            <a:ext cx="3047099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Value</a:t>
            </a:r>
            <a:endParaRPr/>
          </a:p>
        </p:txBody>
      </p:sp>
      <p:sp>
        <p:nvSpPr>
          <p:cNvPr id="244" name="Google Shape;244;p22"/>
          <p:cNvSpPr txBox="1"/>
          <p:nvPr/>
        </p:nvSpPr>
        <p:spPr>
          <a:xfrm>
            <a:off x="8423374" y="3272879"/>
            <a:ext cx="2901999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Proved that DBMS is essential for auditing AI performance and operational transparency.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9" name="Google Shape;24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0" name="Google Shape;25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86000" y="3503265"/>
            <a:ext cx="7620000" cy="1781026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3"/>
          <p:cNvSpPr txBox="1"/>
          <p:nvPr/>
        </p:nvSpPr>
        <p:spPr>
          <a:xfrm>
            <a:off x="2095500" y="1430833"/>
            <a:ext cx="8001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3"/>
          <p:cNvSpPr txBox="1"/>
          <p:nvPr/>
        </p:nvSpPr>
        <p:spPr>
          <a:xfrm>
            <a:off x="2286000" y="2444195"/>
            <a:ext cx="8098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Thank you for your attention.</a:t>
            </a:r>
            <a:endParaRPr sz="3000"/>
          </a:p>
        </p:txBody>
      </p:sp>
      <p:sp>
        <p:nvSpPr>
          <p:cNvPr id="253" name="Google Shape;253;p23"/>
          <p:cNvSpPr txBox="1"/>
          <p:nvPr/>
        </p:nvSpPr>
        <p:spPr>
          <a:xfrm>
            <a:off x="2286000" y="4141440"/>
            <a:ext cx="76200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Dhruv Kannojia</a:t>
            </a:r>
            <a:endParaRPr/>
          </a:p>
        </p:txBody>
      </p:sp>
      <p:sp>
        <p:nvSpPr>
          <p:cNvPr id="254" name="Google Shape;254;p23"/>
          <p:cNvSpPr txBox="1"/>
          <p:nvPr/>
        </p:nvSpPr>
        <p:spPr>
          <a:xfrm>
            <a:off x="2286000" y="4918620"/>
            <a:ext cx="7620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590011908 • Dhruv.11908@stu.upes.ac.in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