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sldIdLst>
    <p:sldId id="256" r:id="rId3"/>
    <p:sldId id="257" r:id="rId4"/>
    <p:sldId id="258" r:id="rId5"/>
    <p:sldId id="259" r:id="rId6"/>
    <p:sldId id="260" r:id="rId7"/>
    <p:sldId id="261" r:id="rId8"/>
    <p:sldId id="262" r:id="rId9"/>
    <p:sldId id="263" r:id="rId10"/>
    <p:sldId id="264" r:id="rId11"/>
    <p:sldId id="267" r:id="rId12"/>
    <p:sldId id="265" r:id="rId13"/>
    <p:sldId id="266"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103" d="100"/>
          <a:sy n="103" d="100"/>
        </p:scale>
        <p:origin x="90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2189880" y="2574000"/>
            <a:ext cx="4493520" cy="1495800"/>
          </a:xfrm>
          <a:prstGeom prst="rect">
            <a:avLst/>
          </a:prstGeom>
          <a:noFill/>
          <a:ln w="0">
            <a:noFill/>
          </a:ln>
          <a:effectLst>
            <a:outerShdw blurRad="57240" dist="19080" dir="5400000" rotWithShape="0">
              <a:srgbClr val="000000">
                <a:alpha val="50000"/>
              </a:srgbClr>
            </a:outerShdw>
          </a:effectLst>
        </p:spPr>
        <p:txBody>
          <a:bodyPr lIns="91440" tIns="91440" rIns="91440" bIns="91440" anchor="b">
            <a:noAutofit/>
          </a:bodyPr>
          <a:lstStyle/>
          <a:p>
            <a:pPr indent="0">
              <a:buNone/>
            </a:pPr>
            <a:r>
              <a:rPr lang="fr-FR" sz="42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84120" y="1555560"/>
            <a:ext cx="6575760" cy="135972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accent1"/>
                </a:solidFill>
                <a:effectLst/>
                <a:uFillTx/>
                <a:latin typeface="Manrope"/>
                <a:ea typeface="Manrope"/>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3" name="Google Shape;47;p13"/>
          <p:cNvSpPr/>
          <p:nvPr/>
        </p:nvSpPr>
        <p:spPr>
          <a:xfrm>
            <a:off x="228600" y="136080"/>
            <a:ext cx="3499920" cy="4871520"/>
          </a:xfrm>
          <a:prstGeom prst="roundRect">
            <a:avLst>
              <a:gd name="adj" fmla="val 8403"/>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 name="Google Shape;48;p13"/>
          <p:cNvSpPr/>
          <p:nvPr/>
        </p:nvSpPr>
        <p:spPr>
          <a:xfrm>
            <a:off x="383400" y="379080"/>
            <a:ext cx="3191760" cy="271440"/>
          </a:xfrm>
          <a:prstGeom prst="roundRect">
            <a:avLst>
              <a:gd name="adj" fmla="val 50000"/>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 name="PlaceHolder 1"/>
          <p:cNvSpPr>
            <a:spLocks noGrp="1"/>
          </p:cNvSpPr>
          <p:nvPr>
            <p:ph type="title"/>
          </p:nvPr>
        </p:nvSpPr>
        <p:spPr>
          <a:xfrm>
            <a:off x="3979440" y="228600"/>
            <a:ext cx="444420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
        <p:nvSpPr>
          <p:cNvPr id="6" name="PlaceHolder 2"/>
          <p:cNvSpPr>
            <a:spLocks noGrp="1"/>
          </p:cNvSpPr>
          <p:nvPr>
            <p:ph type="title"/>
          </p:nvPr>
        </p:nvSpPr>
        <p:spPr>
          <a:xfrm>
            <a:off x="228600" y="92088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7" name="PlaceHolder 3"/>
          <p:cNvSpPr>
            <a:spLocks noGrp="1"/>
          </p:cNvSpPr>
          <p:nvPr>
            <p:ph type="title"/>
          </p:nvPr>
        </p:nvSpPr>
        <p:spPr>
          <a:xfrm>
            <a:off x="228600" y="142776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8" name="PlaceHolder 4"/>
          <p:cNvSpPr>
            <a:spLocks noGrp="1"/>
          </p:cNvSpPr>
          <p:nvPr>
            <p:ph type="title"/>
          </p:nvPr>
        </p:nvSpPr>
        <p:spPr>
          <a:xfrm>
            <a:off x="228600" y="193464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9" name="PlaceHolder 5"/>
          <p:cNvSpPr>
            <a:spLocks noGrp="1"/>
          </p:cNvSpPr>
          <p:nvPr>
            <p:ph type="title"/>
          </p:nvPr>
        </p:nvSpPr>
        <p:spPr>
          <a:xfrm>
            <a:off x="228600" y="244152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10" name="PlaceHolder 6"/>
          <p:cNvSpPr>
            <a:spLocks noGrp="1"/>
          </p:cNvSpPr>
          <p:nvPr>
            <p:ph type="title"/>
          </p:nvPr>
        </p:nvSpPr>
        <p:spPr>
          <a:xfrm>
            <a:off x="228600" y="294840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11" name="PlaceHolder 7"/>
          <p:cNvSpPr>
            <a:spLocks noGrp="1"/>
          </p:cNvSpPr>
          <p:nvPr>
            <p:ph type="title"/>
          </p:nvPr>
        </p:nvSpPr>
        <p:spPr>
          <a:xfrm>
            <a:off x="228600" y="345528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12" name="PlaceHolder 8"/>
          <p:cNvSpPr>
            <a:spLocks noGrp="1"/>
          </p:cNvSpPr>
          <p:nvPr>
            <p:ph type="title"/>
          </p:nvPr>
        </p:nvSpPr>
        <p:spPr>
          <a:xfrm>
            <a:off x="228600" y="396216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13" name="PlaceHolder 9"/>
          <p:cNvSpPr>
            <a:spLocks noGrp="1"/>
          </p:cNvSpPr>
          <p:nvPr>
            <p:ph type="title"/>
          </p:nvPr>
        </p:nvSpPr>
        <p:spPr>
          <a:xfrm>
            <a:off x="228600" y="446904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14" name="Google Shape;74;p13"/>
          <p:cNvSpPr/>
          <p:nvPr/>
        </p:nvSpPr>
        <p:spPr>
          <a:xfrm>
            <a:off x="3805200" y="136080"/>
            <a:ext cx="5202360" cy="48715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5" name="Google Shape;76;p14"/>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6" name="PlaceHolder 1"/>
          <p:cNvSpPr>
            <a:spLocks noGrp="1"/>
          </p:cNvSpPr>
          <p:nvPr>
            <p:ph type="title"/>
          </p:nvPr>
        </p:nvSpPr>
        <p:spPr>
          <a:xfrm>
            <a:off x="720000" y="45612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lt1"/>
        </a:solidFill>
        <a:effectLst/>
      </p:bgPr>
    </p:bg>
    <p:spTree>
      <p:nvGrpSpPr>
        <p:cNvPr id="1" name=""/>
        <p:cNvGrpSpPr/>
        <p:nvPr/>
      </p:nvGrpSpPr>
      <p:grpSpPr>
        <a:xfrm>
          <a:off x="0" y="0"/>
          <a:ext cx="0" cy="0"/>
          <a:chOff x="0" y="0"/>
          <a:chExt cx="0" cy="0"/>
        </a:xfrm>
      </p:grpSpPr>
      <p:sp>
        <p:nvSpPr>
          <p:cNvPr id="18" name="Google Shape;80;p15"/>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9" name="PlaceHolder 1"/>
          <p:cNvSpPr>
            <a:spLocks noGrp="1"/>
          </p:cNvSpPr>
          <p:nvPr>
            <p:ph type="title"/>
          </p:nvPr>
        </p:nvSpPr>
        <p:spPr>
          <a:xfrm>
            <a:off x="720000" y="45864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20" name="Google Shape;89;p16"/>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1" name="PlaceHolder 1"/>
          <p:cNvSpPr>
            <a:spLocks noGrp="1"/>
          </p:cNvSpPr>
          <p:nvPr>
            <p:ph type="title"/>
          </p:nvPr>
        </p:nvSpPr>
        <p:spPr>
          <a:xfrm>
            <a:off x="720000" y="45864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347920" y="830160"/>
            <a:ext cx="4447800" cy="82332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sp>
        <p:nvSpPr>
          <p:cNvPr id="23" name="Google Shape;106;p17"/>
          <p:cNvSpPr/>
          <p:nvPr/>
        </p:nvSpPr>
        <p:spPr>
          <a:xfrm>
            <a:off x="435600" y="3666960"/>
            <a:ext cx="8272440" cy="1044360"/>
          </a:xfrm>
          <a:prstGeom prst="roundRect">
            <a:avLst>
              <a:gd name="adj" fmla="val 17679"/>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107;p17"/>
          <p:cNvSpPr/>
          <p:nvPr/>
        </p:nvSpPr>
        <p:spPr>
          <a:xfrm>
            <a:off x="2099160" y="371016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15000"/>
              </a:lnSpc>
              <a:tabLst>
                <a:tab pos="0" algn="l"/>
              </a:tabLst>
            </a:pPr>
            <a:r>
              <a:rPr lang="en" sz="1200" b="0" u="none" strike="noStrike">
                <a:solidFill>
                  <a:schemeClr val="dk1"/>
                </a:solidFill>
                <a:effectLst/>
                <a:uFillTx/>
                <a:latin typeface="Funnel Sans"/>
                <a:ea typeface="Funnel Sans"/>
              </a:rPr>
              <a:t>CREDITS: This presentation template was created by </a:t>
            </a:r>
            <a:r>
              <a:rPr lang="en" sz="1200" b="1" u="sng" strike="noStrike">
                <a:solidFill>
                  <a:schemeClr val="hlink"/>
                </a:solidFill>
                <a:effectLst/>
                <a:uFillTx/>
                <a:latin typeface="Funnel Sans"/>
                <a:ea typeface="Funnel Sans"/>
                <a:hlinkClick r:id="rId2"/>
              </a:rPr>
              <a:t>Slidesgo</a:t>
            </a:r>
            <a:r>
              <a:rPr lang="en" sz="1200" b="1" u="none" strike="noStrike">
                <a:solidFill>
                  <a:schemeClr val="dk1"/>
                </a:solidFill>
                <a:effectLst/>
                <a:uFillTx/>
                <a:latin typeface="Funnel Sans"/>
                <a:ea typeface="Funnel Sans"/>
              </a:rPr>
              <a:t>,</a:t>
            </a:r>
            <a:r>
              <a:rPr lang="en" sz="1200" b="0" u="none" strike="noStrike">
                <a:solidFill>
                  <a:schemeClr val="dk1"/>
                </a:solidFill>
                <a:effectLst/>
                <a:uFillTx/>
                <a:latin typeface="Funnel Sans"/>
                <a:ea typeface="Funnel Sans"/>
              </a:rPr>
              <a:t> and includes icons, infographics &amp; images by </a:t>
            </a:r>
            <a:r>
              <a:rPr lang="en" sz="1200" b="1" u="sng" strike="noStrike">
                <a:solidFill>
                  <a:schemeClr val="dk1"/>
                </a:solidFill>
                <a:effectLst/>
                <a:uFillTx/>
                <a:latin typeface="Funnel Sans"/>
                <a:ea typeface="Funnel Sans"/>
                <a:hlinkClick r:id="rId3"/>
              </a:rPr>
              <a:t>Freepik</a:t>
            </a:r>
            <a:r>
              <a:rPr lang="en" sz="1200" b="1" u="sng" strike="noStrike">
                <a:solidFill>
                  <a:schemeClr val="dk1"/>
                </a:solidFill>
                <a:effectLst/>
                <a:uFillTx/>
                <a:latin typeface="Funnel Sans"/>
                <a:ea typeface="Funnel Sans"/>
              </a:rPr>
              <a:t> </a:t>
            </a:r>
            <a:endParaRPr lang="en-US" sz="1200" b="0" u="none" strike="noStrike">
              <a:solidFill>
                <a:srgbClr val="FFFFFF"/>
              </a:solidFill>
              <a:effectLst/>
              <a:uFillTx/>
              <a:latin typeface="OpenSymbol"/>
            </a:endParaRPr>
          </a:p>
        </p:txBody>
      </p:sp>
      <p:sp>
        <p:nvSpPr>
          <p:cNvPr id="25" name="Google Shape;108;p17"/>
          <p:cNvSpPr/>
          <p:nvPr/>
        </p:nvSpPr>
        <p:spPr>
          <a:xfrm>
            <a:off x="435600" y="557640"/>
            <a:ext cx="8272440" cy="2968920"/>
          </a:xfrm>
          <a:prstGeom prst="roundRect">
            <a:avLst>
              <a:gd name="adj" fmla="val 7654"/>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26" name="Google Shape;110;p18"/>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
        <p:nvSpPr>
          <p:cNvPr id="27" name="Google Shape;112;p19"/>
          <p:cNvSpPr/>
          <p:nvPr/>
        </p:nvSpPr>
        <p:spPr>
          <a:xfrm rot="5400000">
            <a:off x="4471200" y="532800"/>
            <a:ext cx="201600" cy="862812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69080" y="1719360"/>
            <a:ext cx="6339960" cy="2123280"/>
          </a:xfrm>
          <a:prstGeom prst="rect">
            <a:avLst/>
          </a:prstGeom>
          <a:noFill/>
          <a:ln w="0">
            <a:noFill/>
          </a:ln>
        </p:spPr>
        <p:txBody>
          <a:bodyPr lIns="91440" tIns="91440" rIns="91440" bIns="91440" anchor="b">
            <a:noAutofit/>
          </a:bodyPr>
          <a:lstStyle/>
          <a:p>
            <a:pPr indent="0">
              <a:buNone/>
            </a:pPr>
            <a:r>
              <a:rPr lang="fr-FR" sz="4200" b="0" u="none" strike="noStrike">
                <a:solidFill>
                  <a:schemeClr val="dk1"/>
                </a:solidFill>
                <a:effectLst/>
                <a:uFillTx/>
                <a:latin typeface="Arial"/>
              </a:rPr>
              <a:t>Click to edit the title text format</a:t>
            </a:r>
          </a:p>
        </p:txBody>
      </p:sp>
      <p:sp>
        <p:nvSpPr>
          <p:cNvPr id="29" name="PlaceHolder 2"/>
          <p:cNvSpPr>
            <a:spLocks noGrp="1"/>
          </p:cNvSpPr>
          <p:nvPr>
            <p:ph type="title"/>
          </p:nvPr>
        </p:nvSpPr>
        <p:spPr>
          <a:xfrm>
            <a:off x="469080" y="487080"/>
            <a:ext cx="1182240" cy="841320"/>
          </a:xfrm>
          <a:prstGeom prst="rect">
            <a:avLst/>
          </a:prstGeom>
          <a:noFill/>
          <a:ln w="0">
            <a:noFill/>
          </a:ln>
        </p:spPr>
        <p:txBody>
          <a:bodyPr lIns="91440" tIns="91440" rIns="91440" bIns="91440" anchor="b">
            <a:noAutofit/>
          </a:bodyPr>
          <a:lstStyle/>
          <a:p>
            <a:pPr indent="0">
              <a:lnSpc>
                <a:spcPct val="100000"/>
              </a:lnSpc>
              <a:buNone/>
            </a:pPr>
            <a:r>
              <a:rPr lang="fr-FR" sz="6000" b="1" u="none" strike="noStrike">
                <a:solidFill>
                  <a:schemeClr val="accent2"/>
                </a:solidFill>
                <a:effectLst/>
                <a:uFillTx/>
                <a:latin typeface="Manrope"/>
                <a:ea typeface="Manrope"/>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720000" y="22860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
        <p:nvSpPr>
          <p:cNvPr id="31" name="PlaceHolder 2"/>
          <p:cNvSpPr>
            <a:spLocks noGrp="1"/>
          </p:cNvSpPr>
          <p:nvPr>
            <p:ph type="body"/>
          </p:nvPr>
        </p:nvSpPr>
        <p:spPr>
          <a:xfrm>
            <a:off x="720000" y="999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32" name="Google Shape;19;p5"/>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33" name="PlaceHolder 1"/>
          <p:cNvSpPr>
            <a:spLocks noGrp="1"/>
          </p:cNvSpPr>
          <p:nvPr>
            <p:ph type="title"/>
          </p:nvPr>
        </p:nvSpPr>
        <p:spPr>
          <a:xfrm>
            <a:off x="720000" y="45864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
        <p:nvSpPr>
          <p:cNvPr id="34" name="Google Shape;25;p5"/>
          <p:cNvSpPr/>
          <p:nvPr/>
        </p:nvSpPr>
        <p:spPr>
          <a:xfrm rot="5400000">
            <a:off x="4492080" y="429840"/>
            <a:ext cx="222480" cy="896940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20000" y="45864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
        <p:nvSpPr>
          <p:cNvPr id="36" name="Google Shape;28;p6"/>
          <p:cNvSpPr/>
          <p:nvPr/>
        </p:nvSpPr>
        <p:spPr>
          <a:xfrm>
            <a:off x="136080" y="132480"/>
            <a:ext cx="8871840" cy="49525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37" name="Google Shape;30;p7"/>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38" name="PlaceHolder 1"/>
          <p:cNvSpPr>
            <a:spLocks noGrp="1"/>
          </p:cNvSpPr>
          <p:nvPr>
            <p:ph type="title"/>
          </p:nvPr>
        </p:nvSpPr>
        <p:spPr>
          <a:xfrm>
            <a:off x="720000" y="45864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1133280" y="1896480"/>
            <a:ext cx="6876720" cy="120492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228600" y="601920"/>
            <a:ext cx="4728240" cy="1402920"/>
          </a:xfrm>
          <a:prstGeom prst="rect">
            <a:avLst/>
          </a:prstGeom>
          <a:noFill/>
          <a:ln w="0">
            <a:noFill/>
          </a:ln>
        </p:spPr>
        <p:txBody>
          <a:bodyPr lIns="91440" tIns="91440" rIns="91440" bIns="91440" anchor="b">
            <a:noAutofit/>
          </a:bodyPr>
          <a:lstStyle/>
          <a:p>
            <a:pPr indent="0">
              <a:buNone/>
            </a:pPr>
            <a:r>
              <a:rPr lang="fr-FR" sz="2700" b="0" u="none" strike="noStrike">
                <a:solidFill>
                  <a:schemeClr val="dk1"/>
                </a:solidFill>
                <a:effectLst/>
                <a:uFillTx/>
                <a:latin typeface="Arial"/>
              </a:rPr>
              <a:t>Click to edit the title text format</a:t>
            </a:r>
          </a:p>
        </p:txBody>
      </p:sp>
      <p:sp>
        <p:nvSpPr>
          <p:cNvPr id="41" name="PlaceHolder 2"/>
          <p:cNvSpPr>
            <a:spLocks noGrp="1"/>
          </p:cNvSpPr>
          <p:nvPr>
            <p:ph type="body"/>
          </p:nvPr>
        </p:nvSpPr>
        <p:spPr>
          <a:xfrm>
            <a:off x="5659200" y="0"/>
            <a:ext cx="34844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42"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3" name="PlaceHolder 2"/>
          <p:cNvSpPr>
            <a:spLocks noGrp="1"/>
          </p:cNvSpPr>
          <p:nvPr>
            <p:ph type="title"/>
          </p:nvPr>
        </p:nvSpPr>
        <p:spPr>
          <a:xfrm>
            <a:off x="1390320" y="3955680"/>
            <a:ext cx="6363360" cy="572400"/>
          </a:xfrm>
          <a:prstGeom prst="rect">
            <a:avLst/>
          </a:prstGeom>
          <a:solidFill>
            <a:schemeClr val="lt1"/>
          </a:solid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44" name="Google Shape;118;p22"/>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46" name="Google Shape;121;p23"/>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48"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Google Shape;128;p24"/>
          <p:cNvPicPr/>
          <p:nvPr/>
        </p:nvPicPr>
        <p:blipFill>
          <a:blip r:embed="rId2"/>
          <a:srcRect t="13906" r="6550" b="7347"/>
          <a:stretch/>
        </p:blipFill>
        <p:spPr>
          <a:xfrm>
            <a:off x="0" y="0"/>
            <a:ext cx="9143640" cy="5143320"/>
          </a:xfrm>
          <a:prstGeom prst="rect">
            <a:avLst/>
          </a:prstGeom>
          <a:noFill/>
          <a:ln w="0">
            <a:noFill/>
          </a:ln>
        </p:spPr>
      </p:pic>
      <p:grpSp>
        <p:nvGrpSpPr>
          <p:cNvPr id="50" name="Google Shape;129;p24"/>
          <p:cNvGrpSpPr/>
          <p:nvPr/>
        </p:nvGrpSpPr>
        <p:grpSpPr>
          <a:xfrm>
            <a:off x="228600" y="228600"/>
            <a:ext cx="8672400" cy="4656960"/>
            <a:chOff x="228600" y="228600"/>
            <a:chExt cx="8672400" cy="4656960"/>
          </a:xfrm>
        </p:grpSpPr>
        <p:sp>
          <p:nvSpPr>
            <p:cNvPr id="51" name="Google Shape;130;p24"/>
            <p:cNvSpPr/>
            <p:nvPr/>
          </p:nvSpPr>
          <p:spPr>
            <a:xfrm>
              <a:off x="2050200" y="257760"/>
              <a:ext cx="6850800" cy="3777120"/>
            </a:xfrm>
            <a:prstGeom prst="roundRect">
              <a:avLst>
                <a:gd name="adj" fmla="val 7195"/>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2" name="Google Shape;131;p24"/>
            <p:cNvSpPr/>
            <p:nvPr/>
          </p:nvSpPr>
          <p:spPr>
            <a:xfrm>
              <a:off x="2050200" y="4174560"/>
              <a:ext cx="6850800" cy="710640"/>
            </a:xfrm>
            <a:prstGeom prst="roundRect">
              <a:avLst>
                <a:gd name="adj" fmla="val 24504"/>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3" name="Google Shape;132;p24"/>
            <p:cNvGrpSpPr/>
            <p:nvPr/>
          </p:nvGrpSpPr>
          <p:grpSpPr>
            <a:xfrm>
              <a:off x="228600" y="228600"/>
              <a:ext cx="1673640" cy="4656960"/>
              <a:chOff x="228600" y="228600"/>
              <a:chExt cx="1673640" cy="4656960"/>
            </a:xfrm>
          </p:grpSpPr>
          <p:sp>
            <p:nvSpPr>
              <p:cNvPr id="54" name="Google Shape;133;p24"/>
              <p:cNvSpPr/>
              <p:nvPr/>
            </p:nvSpPr>
            <p:spPr>
              <a:xfrm>
                <a:off x="228600" y="228600"/>
                <a:ext cx="1673640" cy="4656960"/>
              </a:xfrm>
              <a:prstGeom prst="roundRect">
                <a:avLst>
                  <a:gd name="adj" fmla="val 13823"/>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r>
                  <a:rPr lang="en-US" sz="1800" b="0" u="none" strike="noStrike" dirty="0">
                    <a:solidFill>
                      <a:srgbClr val="FFFFFF"/>
                    </a:solidFill>
                    <a:effectLst/>
                    <a:uFillTx/>
                    <a:latin typeface="OpenSymbol"/>
                  </a:rPr>
                  <a:t> By:</a:t>
                </a:r>
              </a:p>
              <a:p>
                <a:pPr algn="ctr" defTabSz="914400">
                  <a:lnSpc>
                    <a:spcPct val="100000"/>
                  </a:lnSpc>
                  <a:tabLst>
                    <a:tab pos="0" algn="l"/>
                  </a:tabLst>
                </a:pPr>
                <a:r>
                  <a:rPr lang="en-US" dirty="0">
                    <a:solidFill>
                      <a:srgbClr val="FFFFFF"/>
                    </a:solidFill>
                    <a:latin typeface="OpenSymbol"/>
                  </a:rPr>
                  <a:t>Analjit Singh Paul </a:t>
                </a:r>
              </a:p>
              <a:p>
                <a:pPr algn="ctr" defTabSz="914400">
                  <a:lnSpc>
                    <a:spcPct val="100000"/>
                  </a:lnSpc>
                  <a:tabLst>
                    <a:tab pos="0" algn="l"/>
                  </a:tabLst>
                </a:pPr>
                <a:r>
                  <a:rPr lang="en-US" b="0" u="none" strike="noStrike" dirty="0">
                    <a:solidFill>
                      <a:srgbClr val="FFFFFF"/>
                    </a:solidFill>
                    <a:effectLst/>
                    <a:uFillTx/>
                    <a:latin typeface="OpenSymbol"/>
                  </a:rPr>
                  <a:t>590011916</a:t>
                </a:r>
              </a:p>
              <a:p>
                <a:pPr algn="ctr" defTabSz="914400">
                  <a:lnSpc>
                    <a:spcPct val="100000"/>
                  </a:lnSpc>
                  <a:tabLst>
                    <a:tab pos="0" algn="l"/>
                  </a:tabLst>
                </a:pPr>
                <a:r>
                  <a:rPr lang="en-US" dirty="0">
                    <a:solidFill>
                      <a:srgbClr val="FFFFFF"/>
                    </a:solidFill>
                    <a:latin typeface="OpenSymbol"/>
                  </a:rPr>
                  <a:t>Krishna Tiwari </a:t>
                </a:r>
              </a:p>
              <a:p>
                <a:pPr algn="ctr" defTabSz="914400">
                  <a:lnSpc>
                    <a:spcPct val="100000"/>
                  </a:lnSpc>
                  <a:tabLst>
                    <a:tab pos="0" algn="l"/>
                  </a:tabLst>
                </a:pPr>
                <a:r>
                  <a:rPr lang="en-US" b="0" u="none" strike="noStrike" dirty="0">
                    <a:solidFill>
                      <a:srgbClr val="FFFFFF"/>
                    </a:solidFill>
                    <a:effectLst/>
                    <a:uFillTx/>
                    <a:latin typeface="OpenSymbol"/>
                  </a:rPr>
                  <a:t>590012897</a:t>
                </a:r>
                <a:endParaRPr lang="en-US" sz="1800" b="0" u="none" strike="noStrike" dirty="0">
                  <a:solidFill>
                    <a:srgbClr val="FFFFFF"/>
                  </a:solidFill>
                  <a:effectLst/>
                  <a:uFillTx/>
                  <a:latin typeface="OpenSymbol"/>
                </a:endParaRPr>
              </a:p>
            </p:txBody>
          </p:sp>
          <p:sp>
            <p:nvSpPr>
              <p:cNvPr id="55" name="Google Shape;134;p24"/>
              <p:cNvSpPr/>
              <p:nvPr/>
            </p:nvSpPr>
            <p:spPr>
              <a:xfrm>
                <a:off x="313560" y="334440"/>
                <a:ext cx="1498320" cy="236520"/>
              </a:xfrm>
              <a:prstGeom prst="roundRect">
                <a:avLst>
                  <a:gd name="adj" fmla="val 50000"/>
                </a:avLst>
              </a:prstGeom>
              <a:solidFill>
                <a:schemeClr val="lt2"/>
              </a:solidFill>
              <a:ln w="9525">
                <a:solidFill>
                  <a:srgbClr val="00FFA4"/>
                </a:solidFill>
                <a:round/>
              </a:ln>
            </p:spPr>
            <p:style>
              <a:lnRef idx="0">
                <a:scrgbClr r="0" g="0" b="0"/>
              </a:lnRef>
              <a:fillRef idx="0">
                <a:scrgbClr r="0" g="0" b="0"/>
              </a:fillRef>
              <a:effectRef idx="0">
                <a:scrgbClr r="0" g="0" b="0"/>
              </a:effectRef>
              <a:fontRef idx="minor"/>
            </p:style>
            <p:txBody>
              <a:bodyPr tIns="83520" bIns="835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56" name="PlaceHolder 1"/>
          <p:cNvSpPr>
            <a:spLocks noGrp="1"/>
          </p:cNvSpPr>
          <p:nvPr>
            <p:ph type="title"/>
          </p:nvPr>
        </p:nvSpPr>
        <p:spPr>
          <a:xfrm>
            <a:off x="2190600" y="2571840"/>
            <a:ext cx="4495320" cy="1495080"/>
          </a:xfrm>
          <a:prstGeom prst="rect">
            <a:avLst/>
          </a:prstGeom>
          <a:noFill/>
          <a:ln w="0">
            <a:noFill/>
          </a:ln>
          <a:effectLst>
            <a:outerShdw blurRad="57240" dist="19080" dir="5400000" rotWithShape="0">
              <a:srgbClr val="000000">
                <a:alpha val="50000"/>
              </a:srgbClr>
            </a:outerShdw>
          </a:effectLst>
        </p:spPr>
        <p:txBody>
          <a:bodyPr lIns="91440" tIns="91440" rIns="91440" bIns="91440" anchor="b">
            <a:normAutofit/>
          </a:bodyPr>
          <a:lstStyle/>
          <a:p>
            <a:pPr indent="0">
              <a:lnSpc>
                <a:spcPct val="100000"/>
              </a:lnSpc>
              <a:buNone/>
              <a:tabLst>
                <a:tab pos="0" algn="l"/>
              </a:tabLst>
            </a:pPr>
            <a:r>
              <a:rPr lang="en-US" sz="4200" b="1" u="none" strike="noStrike" dirty="0">
                <a:solidFill>
                  <a:schemeClr val="dk1"/>
                </a:solidFill>
                <a:effectLst/>
                <a:uFillTx/>
                <a:latin typeface="Manrope"/>
                <a:ea typeface="Manrope"/>
              </a:rPr>
              <a:t>Hospital System</a:t>
            </a:r>
            <a:endParaRPr lang="fr-FR" sz="4200" b="0" u="none" strike="noStrike" dirty="0">
              <a:solidFill>
                <a:schemeClr val="dk1"/>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Google Shape;280;p31"/>
          <p:cNvPicPr/>
          <p:nvPr/>
        </p:nvPicPr>
        <p:blipFill>
          <a:blip r:embed="rId2"/>
          <a:srcRect l="13798" r="1556"/>
          <a:stretch/>
        </p:blipFill>
        <p:spPr>
          <a:xfrm>
            <a:off x="5659200" y="0"/>
            <a:ext cx="3484440" cy="5143320"/>
          </a:xfrm>
          <a:prstGeom prst="rect">
            <a:avLst/>
          </a:prstGeom>
          <a:noFill/>
          <a:ln w="0">
            <a:noFill/>
          </a:ln>
        </p:spPr>
      </p:pic>
      <p:grpSp>
        <p:nvGrpSpPr>
          <p:cNvPr id="59" name="Google Shape;281;p31"/>
          <p:cNvGrpSpPr/>
          <p:nvPr/>
        </p:nvGrpSpPr>
        <p:grpSpPr>
          <a:xfrm>
            <a:off x="118440" y="585360"/>
            <a:ext cx="8907120" cy="4466880"/>
            <a:chOff x="118440" y="585360"/>
            <a:chExt cx="8907120" cy="4466880"/>
          </a:xfrm>
        </p:grpSpPr>
        <p:sp>
          <p:nvSpPr>
            <p:cNvPr id="60" name="Google Shape;282;p31"/>
            <p:cNvSpPr/>
            <p:nvPr/>
          </p:nvSpPr>
          <p:spPr>
            <a:xfrm>
              <a:off x="118440" y="585360"/>
              <a:ext cx="5191920" cy="149112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1"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2" name="PlaceHolder 1"/>
          <p:cNvSpPr>
            <a:spLocks noGrp="1"/>
          </p:cNvSpPr>
          <p:nvPr>
            <p:ph type="title"/>
          </p:nvPr>
        </p:nvSpPr>
        <p:spPr>
          <a:xfrm>
            <a:off x="228600" y="600120"/>
            <a:ext cx="4723920" cy="13996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700" b="1" u="none" strike="noStrike">
                <a:solidFill>
                  <a:schemeClr val="dk1"/>
                </a:solidFill>
                <a:effectLst/>
                <a:uFillTx/>
                <a:latin typeface="Manrope"/>
                <a:ea typeface="Manrope"/>
              </a:rPr>
              <a:t>Introduction</a:t>
            </a:r>
            <a:endParaRPr lang="fr-FR" sz="2700" b="0" u="none" strike="noStrike">
              <a:solidFill>
                <a:schemeClr val="dk1"/>
              </a:solidFill>
              <a:effectLst/>
              <a:uFillTx/>
              <a:latin typeface="Arial"/>
            </a:endParaRPr>
          </a:p>
        </p:txBody>
      </p:sp>
      <p:sp>
        <p:nvSpPr>
          <p:cNvPr id="63" name="PlaceHolder 2"/>
          <p:cNvSpPr>
            <a:spLocks noGrp="1"/>
          </p:cNvSpPr>
          <p:nvPr>
            <p:ph type="subTitle"/>
          </p:nvPr>
        </p:nvSpPr>
        <p:spPr>
          <a:xfrm>
            <a:off x="228600" y="2314440"/>
            <a:ext cx="4028760" cy="2095200"/>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a:solidFill>
                  <a:schemeClr val="dk1"/>
                </a:solidFill>
                <a:effectLst/>
                <a:uFillTx/>
                <a:latin typeface="Funnel Sans"/>
                <a:ea typeface="Funnel Sans"/>
              </a:rPr>
              <a:t>A Hospital Management System integrates </a:t>
            </a:r>
            <a:r>
              <a:rPr lang="en-US" sz="1200" b="0" i="1" u="none" strike="noStrike">
                <a:solidFill>
                  <a:schemeClr val="dk1"/>
                </a:solidFill>
                <a:effectLst/>
                <a:uFillTx/>
                <a:latin typeface="Funnel Sans"/>
                <a:ea typeface="Funnel Sans"/>
              </a:rPr>
              <a:t>Python</a:t>
            </a:r>
            <a:r>
              <a:rPr lang="en-US" sz="1200" b="0" u="none" strike="noStrike">
                <a:solidFill>
                  <a:schemeClr val="dk1"/>
                </a:solidFill>
                <a:effectLst/>
                <a:uFillTx/>
                <a:latin typeface="Funnel Sans"/>
                <a:ea typeface="Funnel Sans"/>
              </a:rPr>
              <a:t>, </a:t>
            </a:r>
            <a:r>
              <a:rPr lang="en-US" sz="1200" b="0" i="1" u="none" strike="noStrike">
                <a:solidFill>
                  <a:schemeClr val="dk1"/>
                </a:solidFill>
                <a:effectLst/>
                <a:uFillTx/>
                <a:latin typeface="Funnel Sans"/>
                <a:ea typeface="Funnel Sans"/>
              </a:rPr>
              <a:t>HTML</a:t>
            </a:r>
            <a:r>
              <a:rPr lang="en-US" sz="1200" b="0" u="none" strike="noStrike">
                <a:solidFill>
                  <a:schemeClr val="dk1"/>
                </a:solidFill>
                <a:effectLst/>
                <a:uFillTx/>
                <a:latin typeface="Funnel Sans"/>
                <a:ea typeface="Funnel Sans"/>
              </a:rPr>
              <a:t>, and </a:t>
            </a:r>
            <a:r>
              <a:rPr lang="en-US" sz="1200" b="0" i="1" u="none" strike="noStrike">
                <a:solidFill>
                  <a:schemeClr val="dk1"/>
                </a:solidFill>
                <a:effectLst/>
                <a:uFillTx/>
                <a:latin typeface="Funnel Sans"/>
                <a:ea typeface="Funnel Sans"/>
              </a:rPr>
              <a:t>DBMS</a:t>
            </a:r>
            <a:r>
              <a:rPr lang="en-US" sz="1200" b="0" u="none" strike="noStrike">
                <a:solidFill>
                  <a:schemeClr val="dk1"/>
                </a:solidFill>
                <a:effectLst/>
                <a:uFillTx/>
                <a:latin typeface="Funnel Sans"/>
                <a:ea typeface="Funnel Sans"/>
              </a:rPr>
              <a:t> technologies to streamline healthcare operations. It manages comprehensive data of patients and doctors, enabling efficient scheduling and confirmation of appointments. This system enhances administrative accuracy and patient care by automating record keeping and appointment workflows, reducing errors and delays.</a:t>
            </a:r>
            <a:endParaRPr lang="en-US" sz="1200" b="0" u="none" strike="noStrike">
              <a:solidFill>
                <a:srgbClr val="FFFFFF"/>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Google Shape;280;p31"/>
          <p:cNvPicPr/>
          <p:nvPr/>
        </p:nvPicPr>
        <p:blipFill>
          <a:blip r:embed="rId2"/>
          <a:srcRect l="13798" r="1556"/>
          <a:stretch/>
        </p:blipFill>
        <p:spPr>
          <a:xfrm>
            <a:off x="5659200" y="0"/>
            <a:ext cx="3484440" cy="5143320"/>
          </a:xfrm>
          <a:prstGeom prst="rect">
            <a:avLst/>
          </a:prstGeom>
          <a:noFill/>
          <a:ln w="0">
            <a:noFill/>
          </a:ln>
        </p:spPr>
      </p:pic>
      <p:grpSp>
        <p:nvGrpSpPr>
          <p:cNvPr id="65" name="Google Shape;281;p31"/>
          <p:cNvGrpSpPr/>
          <p:nvPr/>
        </p:nvGrpSpPr>
        <p:grpSpPr>
          <a:xfrm>
            <a:off x="118440" y="585360"/>
            <a:ext cx="8907120" cy="4466880"/>
            <a:chOff x="118440" y="585360"/>
            <a:chExt cx="8907120" cy="4466880"/>
          </a:xfrm>
        </p:grpSpPr>
        <p:sp>
          <p:nvSpPr>
            <p:cNvPr id="66" name="Google Shape;282;p31"/>
            <p:cNvSpPr/>
            <p:nvPr/>
          </p:nvSpPr>
          <p:spPr>
            <a:xfrm>
              <a:off x="118440" y="585360"/>
              <a:ext cx="5191920" cy="149112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7"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8" name="PlaceHolder 1"/>
          <p:cNvSpPr>
            <a:spLocks noGrp="1"/>
          </p:cNvSpPr>
          <p:nvPr>
            <p:ph type="title"/>
          </p:nvPr>
        </p:nvSpPr>
        <p:spPr>
          <a:xfrm>
            <a:off x="228600" y="600120"/>
            <a:ext cx="4723920" cy="13996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700" b="1" u="none" strike="noStrike">
                <a:solidFill>
                  <a:schemeClr val="dk1"/>
                </a:solidFill>
                <a:effectLst/>
                <a:uFillTx/>
                <a:latin typeface="Manrope"/>
                <a:ea typeface="Manrope"/>
              </a:rPr>
              <a:t>Hospital Management System</a:t>
            </a:r>
            <a:endParaRPr lang="fr-FR" sz="2700" b="0" u="none" strike="noStrike">
              <a:solidFill>
                <a:schemeClr val="dk1"/>
              </a:solidFill>
              <a:effectLst/>
              <a:uFillTx/>
              <a:latin typeface="Arial"/>
            </a:endParaRPr>
          </a:p>
          <a:p>
            <a:pPr indent="0">
              <a:lnSpc>
                <a:spcPct val="100000"/>
              </a:lnSpc>
              <a:buNone/>
              <a:tabLst>
                <a:tab pos="0" algn="l"/>
              </a:tabLst>
            </a:pPr>
            <a:r>
              <a:rPr lang="en-US" sz="2700" b="1" u="none" strike="noStrike">
                <a:solidFill>
                  <a:schemeClr val="dk1"/>
                </a:solidFill>
                <a:effectLst/>
                <a:uFillTx/>
                <a:latin typeface="Manrope"/>
                <a:ea typeface="Manrope"/>
              </a:rPr>
              <a:t> Overview</a:t>
            </a:r>
            <a:endParaRPr lang="fr-FR" sz="2700" b="0" u="none" strike="noStrike">
              <a:solidFill>
                <a:schemeClr val="dk1"/>
              </a:solidFill>
              <a:effectLst/>
              <a:uFillTx/>
              <a:latin typeface="Arial"/>
            </a:endParaRPr>
          </a:p>
        </p:txBody>
      </p:sp>
      <p:sp>
        <p:nvSpPr>
          <p:cNvPr id="69" name="PlaceHolder 2"/>
          <p:cNvSpPr>
            <a:spLocks noGrp="1"/>
          </p:cNvSpPr>
          <p:nvPr>
            <p:ph type="subTitle"/>
          </p:nvPr>
        </p:nvSpPr>
        <p:spPr>
          <a:xfrm>
            <a:off x="118440" y="2240582"/>
            <a:ext cx="5191920" cy="2317558"/>
          </a:xfrm>
          <a:prstGeom prst="rect">
            <a:avLst/>
          </a:prstGeom>
          <a:noFill/>
          <a:ln w="0">
            <a:noFill/>
          </a:ln>
        </p:spPr>
        <p:txBody>
          <a:bodyPr wrap="square" lIns="91440" tIns="91440" rIns="91440" bIns="91440" anchor="b">
            <a:spAutoFit/>
          </a:bodyPr>
          <a:lstStyle/>
          <a:p>
            <a:pPr algn="ctr"/>
            <a:r>
              <a:rPr lang="en-US" sz="1400" dirty="0"/>
              <a:t>A Hospital Management System (HMS) is a digital platform designed to streamline and automate the day-to-day operations of a hospital. It manages patient records, doctor information, appointment scheduling, billing, and administrative workflows. By integrating technologies like Python for backend logic, HTML for the user interface, and a DBMS for secure data storage, the system ensures smooth communication between departments, reduces paperwork, and enhances accuracy. Overall, HMS transforms traditional manual processes into a more efficient, organized, and reliable healthcare management environment.</a:t>
            </a:r>
            <a:endParaRPr lang="en-US" sz="1400" b="0" u="none" strike="noStrike" dirty="0">
              <a:solidFill>
                <a:schemeClr val="dk1"/>
              </a:solidFill>
              <a:effectLst/>
              <a:uFillTx/>
              <a:latin typeface="Funnel Sans"/>
              <a:ea typeface="Funne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Google Shape;224;p28"/>
          <p:cNvGrpSpPr/>
          <p:nvPr/>
        </p:nvGrpSpPr>
        <p:grpSpPr>
          <a:xfrm>
            <a:off x="118440" y="1505520"/>
            <a:ext cx="8907120" cy="3546720"/>
            <a:chOff x="118440" y="1505520"/>
            <a:chExt cx="8907120" cy="3546720"/>
          </a:xfrm>
        </p:grpSpPr>
        <p:sp>
          <p:nvSpPr>
            <p:cNvPr id="71"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2"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3" name="PlaceHolder 1"/>
          <p:cNvSpPr>
            <a:spLocks noGrp="1"/>
          </p:cNvSpPr>
          <p:nvPr>
            <p:ph type="title"/>
          </p:nvPr>
        </p:nvSpPr>
        <p:spPr>
          <a:xfrm>
            <a:off x="723960" y="457200"/>
            <a:ext cx="77054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700" b="1" u="none" strike="noStrike">
                <a:solidFill>
                  <a:schemeClr val="dk1"/>
                </a:solidFill>
                <a:effectLst/>
                <a:uFillTx/>
                <a:latin typeface="Manrope"/>
                <a:ea typeface="Manrope"/>
              </a:rPr>
              <a:t>System Components: Python, HTML, DBMS</a:t>
            </a:r>
            <a:endParaRPr lang="fr-FR" sz="2700" b="0" u="none" strike="noStrike">
              <a:solidFill>
                <a:schemeClr val="dk1"/>
              </a:solidFill>
              <a:effectLst/>
              <a:uFillTx/>
              <a:latin typeface="Arial"/>
            </a:endParaRPr>
          </a:p>
        </p:txBody>
      </p:sp>
      <p:sp>
        <p:nvSpPr>
          <p:cNvPr id="74" name="PlaceHolder 2"/>
          <p:cNvSpPr>
            <a:spLocks noGrp="1"/>
          </p:cNvSpPr>
          <p:nvPr>
            <p:ph type="subTitle"/>
          </p:nvPr>
        </p:nvSpPr>
        <p:spPr>
          <a:xfrm>
            <a:off x="695160" y="1809720"/>
            <a:ext cx="7762680" cy="26190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Funnel Sans"/>
                <a:ea typeface="Funnel Sans"/>
              </a:rPr>
              <a:t>The system employs </a:t>
            </a:r>
            <a:r>
              <a:rPr lang="en-US" sz="1200" b="1" u="none" strike="noStrike">
                <a:solidFill>
                  <a:schemeClr val="dk1"/>
                </a:solidFill>
                <a:effectLst/>
                <a:uFillTx/>
                <a:latin typeface="Funnel Sans"/>
                <a:ea typeface="Funnel Sans"/>
              </a:rPr>
              <a:t>Python</a:t>
            </a:r>
            <a:r>
              <a:rPr lang="en-US" sz="1200" b="0" u="none" strike="noStrike">
                <a:solidFill>
                  <a:schemeClr val="dk1"/>
                </a:solidFill>
                <a:effectLst/>
                <a:uFillTx/>
                <a:latin typeface="Funnel Sans"/>
                <a:ea typeface="Funnel Sans"/>
              </a:rPr>
              <a:t> for backend processing and logic control, ensuring robust functionality. </a:t>
            </a:r>
            <a:r>
              <a:rPr lang="en-US" sz="1200" b="1" u="none" strike="noStrike">
                <a:solidFill>
                  <a:schemeClr val="dk1"/>
                </a:solidFill>
                <a:effectLst/>
                <a:uFillTx/>
                <a:latin typeface="Funnel Sans"/>
                <a:ea typeface="Funnel Sans"/>
              </a:rPr>
              <a:t>HTML</a:t>
            </a:r>
            <a:r>
              <a:rPr lang="en-US" sz="1200" b="0" u="none" strike="noStrike">
                <a:solidFill>
                  <a:schemeClr val="dk1"/>
                </a:solidFill>
                <a:effectLst/>
                <a:uFillTx/>
                <a:latin typeface="Funnel Sans"/>
                <a:ea typeface="Funnel Sans"/>
              </a:rPr>
              <a:t> supports the frontend interface, providing user-friendly access for hospital staff and patients. The </a:t>
            </a:r>
            <a:r>
              <a:rPr lang="en-US" sz="1200" b="1" u="none" strike="noStrike">
                <a:solidFill>
                  <a:schemeClr val="dk1"/>
                </a:solidFill>
                <a:effectLst/>
                <a:uFillTx/>
                <a:latin typeface="Funnel Sans"/>
                <a:ea typeface="Funnel Sans"/>
              </a:rPr>
              <a:t>Database Management System (DBMS)</a:t>
            </a:r>
            <a:r>
              <a:rPr lang="en-US" sz="1200" b="0" u="none" strike="noStrike">
                <a:solidFill>
                  <a:schemeClr val="dk1"/>
                </a:solidFill>
                <a:effectLst/>
                <a:uFillTx/>
                <a:latin typeface="Funnel Sans"/>
                <a:ea typeface="Funnel Sans"/>
              </a:rPr>
              <a:t> securely stores and manages critical data for patients, doctors, and appointments, enabling quick data retrieval and updates.</a:t>
            </a:r>
            <a:endParaRPr lang="en-US" sz="1200" b="0" u="none" strike="noStrike">
              <a:solidFill>
                <a:srgbClr val="FFFFFF"/>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Google Shape;224;p28"/>
          <p:cNvGrpSpPr/>
          <p:nvPr/>
        </p:nvGrpSpPr>
        <p:grpSpPr>
          <a:xfrm>
            <a:off x="118440" y="1505520"/>
            <a:ext cx="8907120" cy="3546720"/>
            <a:chOff x="118440" y="1505520"/>
            <a:chExt cx="8907120" cy="3546720"/>
          </a:xfrm>
        </p:grpSpPr>
        <p:sp>
          <p:nvSpPr>
            <p:cNvPr id="76"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7"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8" name="PlaceHolder 1"/>
          <p:cNvSpPr>
            <a:spLocks noGrp="1"/>
          </p:cNvSpPr>
          <p:nvPr>
            <p:ph type="title"/>
          </p:nvPr>
        </p:nvSpPr>
        <p:spPr>
          <a:xfrm>
            <a:off x="723960" y="457200"/>
            <a:ext cx="77054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700" b="1" u="none" strike="noStrike">
                <a:solidFill>
                  <a:schemeClr val="dk1"/>
                </a:solidFill>
                <a:effectLst/>
                <a:uFillTx/>
                <a:latin typeface="Manrope"/>
                <a:ea typeface="Manrope"/>
              </a:rPr>
              <a:t>Key Functionalities: Patient and Doctor Data Management</a:t>
            </a:r>
            <a:endParaRPr lang="fr-FR" sz="2700" b="0" u="none" strike="noStrike">
              <a:solidFill>
                <a:schemeClr val="dk1"/>
              </a:solidFill>
              <a:effectLst/>
              <a:uFillTx/>
              <a:latin typeface="Arial"/>
            </a:endParaRPr>
          </a:p>
        </p:txBody>
      </p:sp>
      <p:sp>
        <p:nvSpPr>
          <p:cNvPr id="79" name="PlaceHolder 2"/>
          <p:cNvSpPr>
            <a:spLocks noGrp="1"/>
          </p:cNvSpPr>
          <p:nvPr>
            <p:ph type="subTitle"/>
          </p:nvPr>
        </p:nvSpPr>
        <p:spPr>
          <a:xfrm>
            <a:off x="695160" y="1809720"/>
            <a:ext cx="7762680" cy="26190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Funnel Sans"/>
                <a:ea typeface="Funnel Sans"/>
              </a:rPr>
              <a:t>The system maintains detailed records of patient histories and doctor profiles, ensuring data accuracy and accessibility. It facilitates appointment scheduling by linking patient requests with doctor availability, confirming booking status efficiently. This functionality supports improved communication, reduces no-shows, and enhances overall hospital operational efficiency.</a:t>
            </a:r>
            <a:endParaRPr lang="en-US" sz="1200" b="0" u="none" strike="noStrike">
              <a:solidFill>
                <a:srgbClr val="FFFFFF"/>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Google Shape;280;p31"/>
          <p:cNvPicPr/>
          <p:nvPr/>
        </p:nvPicPr>
        <p:blipFill>
          <a:blip r:embed="rId2"/>
          <a:srcRect l="13798" r="1556"/>
          <a:stretch/>
        </p:blipFill>
        <p:spPr>
          <a:xfrm>
            <a:off x="5659200" y="0"/>
            <a:ext cx="3484440" cy="5143320"/>
          </a:xfrm>
          <a:prstGeom prst="rect">
            <a:avLst/>
          </a:prstGeom>
          <a:noFill/>
          <a:ln w="0">
            <a:noFill/>
          </a:ln>
        </p:spPr>
      </p:pic>
      <p:grpSp>
        <p:nvGrpSpPr>
          <p:cNvPr id="81" name="Google Shape;281;p31"/>
          <p:cNvGrpSpPr/>
          <p:nvPr/>
        </p:nvGrpSpPr>
        <p:grpSpPr>
          <a:xfrm>
            <a:off x="118440" y="585360"/>
            <a:ext cx="8907120" cy="4466880"/>
            <a:chOff x="118440" y="585360"/>
            <a:chExt cx="8907120" cy="4466880"/>
          </a:xfrm>
        </p:grpSpPr>
        <p:sp>
          <p:nvSpPr>
            <p:cNvPr id="82" name="Google Shape;282;p31"/>
            <p:cNvSpPr/>
            <p:nvPr/>
          </p:nvSpPr>
          <p:spPr>
            <a:xfrm>
              <a:off x="118440" y="585360"/>
              <a:ext cx="5191920" cy="149112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83"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4" name="PlaceHolder 1"/>
          <p:cNvSpPr>
            <a:spLocks noGrp="1"/>
          </p:cNvSpPr>
          <p:nvPr>
            <p:ph type="title"/>
          </p:nvPr>
        </p:nvSpPr>
        <p:spPr>
          <a:xfrm>
            <a:off x="228600" y="600120"/>
            <a:ext cx="4723920" cy="13996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700" b="1" u="none" strike="noStrike">
                <a:solidFill>
                  <a:schemeClr val="dk1"/>
                </a:solidFill>
                <a:effectLst/>
                <a:uFillTx/>
                <a:latin typeface="Manrope"/>
                <a:ea typeface="Manrope"/>
              </a:rPr>
              <a:t>Appointment Scheduling and</a:t>
            </a:r>
            <a:endParaRPr lang="fr-FR" sz="2700" b="0" u="none" strike="noStrike">
              <a:solidFill>
                <a:schemeClr val="dk1"/>
              </a:solidFill>
              <a:effectLst/>
              <a:uFillTx/>
              <a:latin typeface="Arial"/>
            </a:endParaRPr>
          </a:p>
          <a:p>
            <a:pPr indent="0">
              <a:lnSpc>
                <a:spcPct val="100000"/>
              </a:lnSpc>
              <a:buNone/>
              <a:tabLst>
                <a:tab pos="0" algn="l"/>
              </a:tabLst>
            </a:pPr>
            <a:r>
              <a:rPr lang="en-US" sz="2700" b="1" u="none" strike="noStrike">
                <a:solidFill>
                  <a:schemeClr val="dk1"/>
                </a:solidFill>
                <a:effectLst/>
                <a:uFillTx/>
                <a:latin typeface="Manrope"/>
                <a:ea typeface="Manrope"/>
              </a:rPr>
              <a:t> Confirmation</a:t>
            </a:r>
            <a:endParaRPr lang="fr-FR" sz="2700" b="0" u="none" strike="noStrike">
              <a:solidFill>
                <a:schemeClr val="dk1"/>
              </a:solidFill>
              <a:effectLst/>
              <a:uFillTx/>
              <a:latin typeface="Arial"/>
            </a:endParaRPr>
          </a:p>
        </p:txBody>
      </p:sp>
      <p:sp>
        <p:nvSpPr>
          <p:cNvPr id="85" name="PlaceHolder 2"/>
          <p:cNvSpPr>
            <a:spLocks noGrp="1"/>
          </p:cNvSpPr>
          <p:nvPr>
            <p:ph type="subTitle"/>
          </p:nvPr>
        </p:nvSpPr>
        <p:spPr>
          <a:xfrm>
            <a:off x="228600" y="2314440"/>
            <a:ext cx="4028760" cy="2095200"/>
          </a:xfrm>
          <a:prstGeom prst="rect">
            <a:avLst/>
          </a:prstGeom>
          <a:noFill/>
          <a:ln w="0">
            <a:noFill/>
          </a:ln>
        </p:spPr>
        <p:txBody>
          <a:bodyPr lIns="91440" tIns="91440" rIns="91440" bIns="91440" anchor="b">
            <a:normAutofit lnSpcReduction="9999"/>
          </a:bodyPr>
          <a:lstStyle/>
          <a:p>
            <a:pPr indent="0">
              <a:lnSpc>
                <a:spcPct val="150000"/>
              </a:lnSpc>
              <a:buNone/>
              <a:tabLst>
                <a:tab pos="0" algn="l"/>
              </a:tabLst>
            </a:pPr>
            <a:r>
              <a:rPr lang="en-US" sz="1200" b="0" u="none" strike="noStrike">
                <a:solidFill>
                  <a:schemeClr val="dk1"/>
                </a:solidFill>
                <a:effectLst/>
                <a:uFillTx/>
                <a:latin typeface="Funnel Sans"/>
                <a:ea typeface="Funnel Sans"/>
              </a:rPr>
              <a:t>The system streamlines appointment scheduling by allowing patients to request slots based on doctor availability. Automated confirmation processes ensure quick validation and reduce administrative workload. This feature minimizes scheduling conflicts and boosts patient satisfaction by providing timely updates and reminders, contributing to an efficient healthcare service delivery.</a:t>
            </a:r>
            <a:endParaRPr lang="en-US" sz="1200" b="0" u="none" strike="noStrike">
              <a:solidFill>
                <a:srgbClr val="FFFFFF"/>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Google Shape;280;p31"/>
          <p:cNvPicPr/>
          <p:nvPr/>
        </p:nvPicPr>
        <p:blipFill>
          <a:blip r:embed="rId2"/>
          <a:srcRect l="13798" r="1556"/>
          <a:stretch/>
        </p:blipFill>
        <p:spPr>
          <a:xfrm>
            <a:off x="5659200" y="0"/>
            <a:ext cx="3484440" cy="5143320"/>
          </a:xfrm>
          <a:prstGeom prst="rect">
            <a:avLst/>
          </a:prstGeom>
          <a:noFill/>
          <a:ln w="0">
            <a:noFill/>
          </a:ln>
        </p:spPr>
      </p:pic>
      <p:grpSp>
        <p:nvGrpSpPr>
          <p:cNvPr id="87" name="Google Shape;281;p31"/>
          <p:cNvGrpSpPr/>
          <p:nvPr/>
        </p:nvGrpSpPr>
        <p:grpSpPr>
          <a:xfrm>
            <a:off x="118440" y="585360"/>
            <a:ext cx="8907120" cy="4466880"/>
            <a:chOff x="118440" y="585360"/>
            <a:chExt cx="8907120" cy="4466880"/>
          </a:xfrm>
        </p:grpSpPr>
        <p:sp>
          <p:nvSpPr>
            <p:cNvPr id="88" name="Google Shape;282;p31"/>
            <p:cNvSpPr/>
            <p:nvPr/>
          </p:nvSpPr>
          <p:spPr>
            <a:xfrm>
              <a:off x="118440" y="585360"/>
              <a:ext cx="5191920" cy="149112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89"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0" name="PlaceHolder 1"/>
          <p:cNvSpPr>
            <a:spLocks noGrp="1"/>
          </p:cNvSpPr>
          <p:nvPr>
            <p:ph type="title"/>
          </p:nvPr>
        </p:nvSpPr>
        <p:spPr>
          <a:xfrm>
            <a:off x="228600" y="600120"/>
            <a:ext cx="4723920" cy="13996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700" b="1" u="none" strike="noStrike">
                <a:solidFill>
                  <a:schemeClr val="dk1"/>
                </a:solidFill>
                <a:effectLst/>
                <a:uFillTx/>
                <a:latin typeface="Manrope"/>
                <a:ea typeface="Manrope"/>
              </a:rPr>
              <a:t>Technical Implementation and</a:t>
            </a:r>
            <a:endParaRPr lang="fr-FR" sz="2700" b="0" u="none" strike="noStrike">
              <a:solidFill>
                <a:schemeClr val="dk1"/>
              </a:solidFill>
              <a:effectLst/>
              <a:uFillTx/>
              <a:latin typeface="Arial"/>
            </a:endParaRPr>
          </a:p>
          <a:p>
            <a:pPr indent="0">
              <a:lnSpc>
                <a:spcPct val="100000"/>
              </a:lnSpc>
              <a:buNone/>
              <a:tabLst>
                <a:tab pos="0" algn="l"/>
              </a:tabLst>
            </a:pPr>
            <a:r>
              <a:rPr lang="en-US" sz="2700" b="1" u="none" strike="noStrike">
                <a:solidFill>
                  <a:schemeClr val="dk1"/>
                </a:solidFill>
                <a:effectLst/>
                <a:uFillTx/>
                <a:latin typeface="Manrope"/>
                <a:ea typeface="Manrope"/>
              </a:rPr>
              <a:t> Benefits</a:t>
            </a:r>
            <a:endParaRPr lang="fr-FR" sz="2700" b="0" u="none" strike="noStrike">
              <a:solidFill>
                <a:schemeClr val="dk1"/>
              </a:solidFill>
              <a:effectLst/>
              <a:uFillTx/>
              <a:latin typeface="Arial"/>
            </a:endParaRPr>
          </a:p>
        </p:txBody>
      </p:sp>
      <p:sp>
        <p:nvSpPr>
          <p:cNvPr id="2" name="Subtitle 1">
            <a:extLst>
              <a:ext uri="{FF2B5EF4-FFF2-40B4-BE49-F238E27FC236}">
                <a16:creationId xmlns:a16="http://schemas.microsoft.com/office/drawing/2014/main" id="{FE0A4DCA-E5E1-21A1-6E71-CFC53B44232B}"/>
              </a:ext>
            </a:extLst>
          </p:cNvPr>
          <p:cNvSpPr>
            <a:spLocks noGrp="1" noChangeArrowheads="1"/>
          </p:cNvSpPr>
          <p:nvPr>
            <p:ph type="subTitle"/>
          </p:nvPr>
        </p:nvSpPr>
        <p:spPr bwMode="auto">
          <a:xfrm>
            <a:off x="228600" y="2314575"/>
            <a:ext cx="402907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Backend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Frontend (HTML)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Database Management System (DBMS)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System Integration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 name="Google Shape;224;p28"/>
          <p:cNvGrpSpPr/>
          <p:nvPr/>
        </p:nvGrpSpPr>
        <p:grpSpPr>
          <a:xfrm>
            <a:off x="118440" y="1505520"/>
            <a:ext cx="8907120" cy="3546720"/>
            <a:chOff x="118440" y="1505520"/>
            <a:chExt cx="8907120" cy="3546720"/>
          </a:xfrm>
        </p:grpSpPr>
        <p:sp>
          <p:nvSpPr>
            <p:cNvPr id="93"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4"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5" name="PlaceHolder 1"/>
          <p:cNvSpPr>
            <a:spLocks noGrp="1"/>
          </p:cNvSpPr>
          <p:nvPr>
            <p:ph type="title"/>
          </p:nvPr>
        </p:nvSpPr>
        <p:spPr>
          <a:xfrm>
            <a:off x="723960" y="457200"/>
            <a:ext cx="77054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700" b="1" u="none" strike="noStrike">
                <a:solidFill>
                  <a:schemeClr val="dk1"/>
                </a:solidFill>
                <a:effectLst/>
                <a:uFillTx/>
                <a:latin typeface="Manrope"/>
                <a:ea typeface="Manrope"/>
              </a:rPr>
              <a:t>Database Design and Management</a:t>
            </a:r>
            <a:endParaRPr lang="fr-FR" sz="2700" b="0" u="none" strike="noStrike">
              <a:solidFill>
                <a:schemeClr val="dk1"/>
              </a:solidFill>
              <a:effectLst/>
              <a:uFillTx/>
              <a:latin typeface="Arial"/>
            </a:endParaRPr>
          </a:p>
        </p:txBody>
      </p:sp>
      <p:sp>
        <p:nvSpPr>
          <p:cNvPr id="96" name="PlaceHolder 2"/>
          <p:cNvSpPr>
            <a:spLocks noGrp="1"/>
          </p:cNvSpPr>
          <p:nvPr>
            <p:ph type="subTitle"/>
          </p:nvPr>
        </p:nvSpPr>
        <p:spPr>
          <a:xfrm>
            <a:off x="695160" y="1809720"/>
            <a:ext cx="7762680" cy="26190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Funnel Sans"/>
                <a:ea typeface="Funnel Sans"/>
              </a:rPr>
              <a:t>A well-structured </a:t>
            </a:r>
            <a:r>
              <a:rPr lang="en-US" sz="1200" b="1" u="none" strike="noStrike">
                <a:solidFill>
                  <a:schemeClr val="dk1"/>
                </a:solidFill>
                <a:effectLst/>
                <a:uFillTx/>
                <a:latin typeface="Funnel Sans"/>
                <a:ea typeface="Funnel Sans"/>
              </a:rPr>
              <a:t>relational database</a:t>
            </a:r>
            <a:r>
              <a:rPr lang="en-US" sz="1200" b="0" u="none" strike="noStrike">
                <a:solidFill>
                  <a:schemeClr val="dk1"/>
                </a:solidFill>
                <a:effectLst/>
                <a:uFillTx/>
                <a:latin typeface="Funnel Sans"/>
                <a:ea typeface="Funnel Sans"/>
              </a:rPr>
              <a:t> supports the system’s core operations, securely storing patient records, doctor information, and appointment data. Efficient indexing and query optimization ensure fast data retrieval and reliable updates, while maintaining data integrity and privacy in compliance with healthcare regulations.</a:t>
            </a:r>
            <a:endParaRPr lang="en-US" sz="1200" b="0" u="none" strike="noStrike">
              <a:solidFill>
                <a:srgbClr val="FFFFFF"/>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Google Shape;224;p28"/>
          <p:cNvGrpSpPr/>
          <p:nvPr/>
        </p:nvGrpSpPr>
        <p:grpSpPr>
          <a:xfrm>
            <a:off x="118440" y="1505520"/>
            <a:ext cx="8907120" cy="3546720"/>
            <a:chOff x="118440" y="1505520"/>
            <a:chExt cx="8907120" cy="3546720"/>
          </a:xfrm>
        </p:grpSpPr>
        <p:sp>
          <p:nvSpPr>
            <p:cNvPr id="98"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0" name="PlaceHolder 1"/>
          <p:cNvSpPr>
            <a:spLocks noGrp="1"/>
          </p:cNvSpPr>
          <p:nvPr>
            <p:ph type="title"/>
          </p:nvPr>
        </p:nvSpPr>
        <p:spPr>
          <a:xfrm>
            <a:off x="723960" y="457200"/>
            <a:ext cx="77054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700" b="1" u="none" strike="noStrike">
                <a:solidFill>
                  <a:schemeClr val="dk1"/>
                </a:solidFill>
                <a:effectLst/>
                <a:uFillTx/>
                <a:latin typeface="Manrope"/>
                <a:ea typeface="Manrope"/>
              </a:rPr>
              <a:t>Frontend and Backend Integration</a:t>
            </a:r>
            <a:endParaRPr lang="fr-FR" sz="2700" b="0" u="none" strike="noStrike">
              <a:solidFill>
                <a:schemeClr val="dk1"/>
              </a:solidFill>
              <a:effectLst/>
              <a:uFillTx/>
              <a:latin typeface="Arial"/>
            </a:endParaRPr>
          </a:p>
        </p:txBody>
      </p:sp>
      <p:sp>
        <p:nvSpPr>
          <p:cNvPr id="101" name="PlaceHolder 2"/>
          <p:cNvSpPr>
            <a:spLocks noGrp="1"/>
          </p:cNvSpPr>
          <p:nvPr>
            <p:ph type="subTitle"/>
          </p:nvPr>
        </p:nvSpPr>
        <p:spPr>
          <a:xfrm>
            <a:off x="695160" y="1809720"/>
            <a:ext cx="7762680" cy="26190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Funnel Sans"/>
                <a:ea typeface="Funnel Sans"/>
              </a:rPr>
              <a:t>The integration of frontend </a:t>
            </a:r>
            <a:r>
              <a:rPr lang="en-US" sz="1200" b="1" u="none" strike="noStrike">
                <a:solidFill>
                  <a:schemeClr val="dk1"/>
                </a:solidFill>
                <a:effectLst/>
                <a:uFillTx/>
                <a:latin typeface="Funnel Sans"/>
                <a:ea typeface="Funnel Sans"/>
              </a:rPr>
              <a:t>HTML interfaces</a:t>
            </a:r>
            <a:r>
              <a:rPr lang="en-US" sz="1200" b="0" u="none" strike="noStrike">
                <a:solidFill>
                  <a:schemeClr val="dk1"/>
                </a:solidFill>
                <a:effectLst/>
                <a:uFillTx/>
                <a:latin typeface="Funnel Sans"/>
                <a:ea typeface="Funnel Sans"/>
              </a:rPr>
              <a:t> with the Python backend ensures seamless user interaction and system functionality. Responsive design allows staff to easily manage records and appointments, while backend processes handle data validation, business logic, and communication with the database for real-time updates.</a:t>
            </a:r>
            <a:endParaRPr lang="en-US" sz="1200" b="0" u="none" strike="noStrike">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F91AA-0453-E198-C119-680694B95124}"/>
              </a:ext>
            </a:extLst>
          </p:cNvPr>
          <p:cNvSpPr>
            <a:spLocks noGrp="1"/>
          </p:cNvSpPr>
          <p:nvPr>
            <p:ph type="title"/>
          </p:nvPr>
        </p:nvSpPr>
        <p:spPr/>
        <p:txBody>
          <a:bodyPr/>
          <a:lstStyle/>
          <a:p>
            <a:r>
              <a:rPr lang="en-US" sz="4000" dirty="0"/>
              <a:t>Benefits:</a:t>
            </a:r>
            <a:endParaRPr lang="en-IN" dirty="0"/>
          </a:p>
        </p:txBody>
      </p:sp>
      <p:sp>
        <p:nvSpPr>
          <p:cNvPr id="3" name="Text Placeholder 2">
            <a:extLst>
              <a:ext uri="{FF2B5EF4-FFF2-40B4-BE49-F238E27FC236}">
                <a16:creationId xmlns:a16="http://schemas.microsoft.com/office/drawing/2014/main" id="{1AF84C08-CD83-1AF6-D44B-BDA0DC39A5B4}"/>
              </a:ext>
            </a:extLst>
          </p:cNvPr>
          <p:cNvSpPr>
            <a:spLocks noGrp="1"/>
          </p:cNvSpPr>
          <p:nvPr>
            <p:ph type="body"/>
          </p:nvPr>
        </p:nvSpPr>
        <p:spPr>
          <a:xfrm>
            <a:off x="457200" y="1634661"/>
            <a:ext cx="8229240" cy="2982960"/>
          </a:xfrm>
        </p:spPr>
        <p:txBody>
          <a:bodyPr>
            <a:normAutofit fontScale="47500" lnSpcReduction="20000"/>
          </a:bodyPr>
          <a:lstStyle/>
          <a:p>
            <a:r>
              <a:rPr lang="en-US" b="1" dirty="0"/>
              <a:t>Improved Efficiency:</a:t>
            </a:r>
            <a:r>
              <a:rPr lang="en-US" dirty="0"/>
              <a:t> Automates routine tasks like scheduling and record-keeping, reducing staff workload and administrative delays.</a:t>
            </a:r>
          </a:p>
          <a:p>
            <a:r>
              <a:rPr lang="en-US" b="1" dirty="0"/>
              <a:t>Accurate Data Management:</a:t>
            </a:r>
            <a:r>
              <a:rPr lang="en-US" dirty="0"/>
              <a:t> Minimizes human errors and ensures reliable patient and doctor information.</a:t>
            </a:r>
          </a:p>
          <a:p>
            <a:r>
              <a:rPr lang="en-US" b="1" dirty="0"/>
              <a:t>Faster Decision-Making:</a:t>
            </a:r>
            <a:r>
              <a:rPr lang="en-US" dirty="0"/>
              <a:t> Quick access to medical history, appointment status, and doctor availability supports timely actions.</a:t>
            </a:r>
          </a:p>
          <a:p>
            <a:r>
              <a:rPr lang="en-US" b="1" dirty="0"/>
              <a:t>Enhanced Patient Experience:</a:t>
            </a:r>
            <a:r>
              <a:rPr lang="en-US" dirty="0"/>
              <a:t> Smooth appointment booking, reduced waiting times, and timely confirmations improve satisfaction.</a:t>
            </a:r>
          </a:p>
          <a:p>
            <a:r>
              <a:rPr lang="en-US" b="1" dirty="0"/>
              <a:t>Better Resource Utilization:</a:t>
            </a:r>
            <a:r>
              <a:rPr lang="en-US" dirty="0"/>
              <a:t> Doctors' schedules, room assignments, and hospital resources are managed more effectively.</a:t>
            </a:r>
          </a:p>
          <a:p>
            <a:r>
              <a:rPr lang="en-US" b="1" dirty="0"/>
              <a:t>Secure Data Handling:</a:t>
            </a:r>
            <a:r>
              <a:rPr lang="en-US" dirty="0"/>
              <a:t> The DBMS ensures data privacy, integrity, and authorized access, important for sensitive healthcare records.</a:t>
            </a:r>
          </a:p>
          <a:p>
            <a:r>
              <a:rPr lang="en-US" b="1" dirty="0"/>
              <a:t>Scalability:</a:t>
            </a:r>
            <a:r>
              <a:rPr lang="en-US" dirty="0"/>
              <a:t> The system can grow by adding new modules like billing, pharmacy management, or emergency services.</a:t>
            </a:r>
          </a:p>
          <a:p>
            <a:endParaRPr lang="en-IN" dirty="0"/>
          </a:p>
        </p:txBody>
      </p:sp>
    </p:spTree>
    <p:extLst>
      <p:ext uri="{BB962C8B-B14F-4D97-AF65-F5344CB8AC3E}">
        <p14:creationId xmlns:p14="http://schemas.microsoft.com/office/powerpoint/2010/main" val="1275017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Google Shape;280;p31"/>
          <p:cNvPicPr/>
          <p:nvPr/>
        </p:nvPicPr>
        <p:blipFill>
          <a:blip r:embed="rId2"/>
          <a:srcRect l="13798" r="1556"/>
          <a:stretch/>
        </p:blipFill>
        <p:spPr>
          <a:xfrm>
            <a:off x="5659200" y="0"/>
            <a:ext cx="3484440" cy="5143320"/>
          </a:xfrm>
          <a:prstGeom prst="rect">
            <a:avLst/>
          </a:prstGeom>
          <a:noFill/>
          <a:ln w="0">
            <a:noFill/>
          </a:ln>
        </p:spPr>
      </p:pic>
      <p:grpSp>
        <p:nvGrpSpPr>
          <p:cNvPr id="103" name="Google Shape;281;p31"/>
          <p:cNvGrpSpPr/>
          <p:nvPr/>
        </p:nvGrpSpPr>
        <p:grpSpPr>
          <a:xfrm>
            <a:off x="118440" y="585360"/>
            <a:ext cx="8907120" cy="4466880"/>
            <a:chOff x="118440" y="585360"/>
            <a:chExt cx="8907120" cy="4466880"/>
          </a:xfrm>
        </p:grpSpPr>
        <p:sp>
          <p:nvSpPr>
            <p:cNvPr id="104" name="Google Shape;282;p31"/>
            <p:cNvSpPr/>
            <p:nvPr/>
          </p:nvSpPr>
          <p:spPr>
            <a:xfrm>
              <a:off x="118440" y="585360"/>
              <a:ext cx="5191920" cy="149112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05" name="Google Shape;283;p31"/>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6" name="PlaceHolder 1"/>
          <p:cNvSpPr>
            <a:spLocks noGrp="1"/>
          </p:cNvSpPr>
          <p:nvPr>
            <p:ph type="title"/>
          </p:nvPr>
        </p:nvSpPr>
        <p:spPr>
          <a:xfrm>
            <a:off x="228600" y="600120"/>
            <a:ext cx="4723920" cy="139968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2700" b="1" u="none" strike="noStrike">
                <a:solidFill>
                  <a:schemeClr val="dk1"/>
                </a:solidFill>
                <a:effectLst/>
                <a:uFillTx/>
                <a:latin typeface="Manrope"/>
                <a:ea typeface="Manrope"/>
              </a:rPr>
              <a:t>Impact on Hospital Efficiency and Data</a:t>
            </a:r>
            <a:endParaRPr lang="fr-FR" sz="2700" b="0" u="none" strike="noStrike">
              <a:solidFill>
                <a:schemeClr val="dk1"/>
              </a:solidFill>
              <a:effectLst/>
              <a:uFillTx/>
              <a:latin typeface="Arial"/>
            </a:endParaRPr>
          </a:p>
          <a:p>
            <a:pPr indent="0">
              <a:lnSpc>
                <a:spcPct val="100000"/>
              </a:lnSpc>
              <a:buNone/>
              <a:tabLst>
                <a:tab pos="0" algn="l"/>
              </a:tabLst>
            </a:pPr>
            <a:r>
              <a:rPr lang="en-US" sz="2700" b="1" u="none" strike="noStrike">
                <a:solidFill>
                  <a:schemeClr val="dk1"/>
                </a:solidFill>
                <a:effectLst/>
                <a:uFillTx/>
                <a:latin typeface="Manrope"/>
                <a:ea typeface="Manrope"/>
              </a:rPr>
              <a:t> Accuracy</a:t>
            </a:r>
            <a:endParaRPr lang="fr-FR" sz="2700" b="0" u="none" strike="noStrike">
              <a:solidFill>
                <a:schemeClr val="dk1"/>
              </a:solidFill>
              <a:effectLst/>
              <a:uFillTx/>
              <a:latin typeface="Arial"/>
            </a:endParaRPr>
          </a:p>
        </p:txBody>
      </p:sp>
      <p:sp>
        <p:nvSpPr>
          <p:cNvPr id="107" name="PlaceHolder 2"/>
          <p:cNvSpPr>
            <a:spLocks noGrp="1"/>
          </p:cNvSpPr>
          <p:nvPr>
            <p:ph type="subTitle"/>
          </p:nvPr>
        </p:nvSpPr>
        <p:spPr>
          <a:xfrm>
            <a:off x="228600" y="2314440"/>
            <a:ext cx="4028760" cy="2095200"/>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a:solidFill>
                  <a:schemeClr val="dk1"/>
                </a:solidFill>
                <a:effectLst/>
                <a:uFillTx/>
                <a:latin typeface="Funnel Sans"/>
                <a:ea typeface="Funnel Sans"/>
              </a:rPr>
              <a:t>Implementing this system significantly improves operational efficiency by automating routine tasks and reducing errors in data entry. Enhanced data accuracy supports better patient care decisions and resource allocation. The system also improves communication between patients and providers, leading to reduced wait times and optimized scheduling.</a:t>
            </a:r>
            <a:endParaRPr lang="en-US" sz="1200" b="0" u="none" strike="noStrike">
              <a:solidFill>
                <a:srgbClr val="FFFFFF"/>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 name="Google Shape;224;p28"/>
          <p:cNvGrpSpPr/>
          <p:nvPr/>
        </p:nvGrpSpPr>
        <p:grpSpPr>
          <a:xfrm>
            <a:off x="118440" y="1505520"/>
            <a:ext cx="8907120" cy="3546720"/>
            <a:chOff x="118440" y="1505520"/>
            <a:chExt cx="8907120" cy="3546720"/>
          </a:xfrm>
        </p:grpSpPr>
        <p:sp>
          <p:nvSpPr>
            <p:cNvPr id="109"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0"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11" name="PlaceHolder 1"/>
          <p:cNvSpPr>
            <a:spLocks noGrp="1"/>
          </p:cNvSpPr>
          <p:nvPr>
            <p:ph type="title"/>
          </p:nvPr>
        </p:nvSpPr>
        <p:spPr>
          <a:xfrm>
            <a:off x="723960" y="457200"/>
            <a:ext cx="77054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700" b="1" u="none" strike="noStrike">
                <a:solidFill>
                  <a:schemeClr val="dk1"/>
                </a:solidFill>
                <a:effectLst/>
                <a:uFillTx/>
                <a:latin typeface="Manrope"/>
                <a:ea typeface="Manrope"/>
              </a:rPr>
              <a:t>Conclusions</a:t>
            </a:r>
            <a:endParaRPr lang="fr-FR" sz="2700" b="0" u="none" strike="noStrike">
              <a:solidFill>
                <a:schemeClr val="dk1"/>
              </a:solidFill>
              <a:effectLst/>
              <a:uFillTx/>
              <a:latin typeface="Arial"/>
            </a:endParaRPr>
          </a:p>
        </p:txBody>
      </p:sp>
      <p:sp>
        <p:nvSpPr>
          <p:cNvPr id="112" name="PlaceHolder 2"/>
          <p:cNvSpPr>
            <a:spLocks noGrp="1"/>
          </p:cNvSpPr>
          <p:nvPr>
            <p:ph type="subTitle"/>
          </p:nvPr>
        </p:nvSpPr>
        <p:spPr>
          <a:xfrm>
            <a:off x="695160" y="1809720"/>
            <a:ext cx="7762680" cy="26190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Funnel Sans"/>
                <a:ea typeface="Funnel Sans"/>
              </a:rPr>
              <a:t>The hospital management system effectively leverages Python, HTML, and DBMS technologies to enhance healthcare operations. It supports accurate data management, streamlined appointment processes, and improved communication, resulting in higher efficiency and better patient outcomes. This integrated solution offers a scalable framework for modern hospital management needs.</a:t>
            </a:r>
            <a:endParaRPr lang="en-US" sz="1200" b="0" u="none" strike="noStrike">
              <a:solidFill>
                <a:srgbClr val="FFFFFF"/>
              </a:solidFill>
              <a:effectLst/>
              <a:uFillTx/>
              <a:latin typeface="OpenSymbol"/>
            </a:endParaRPr>
          </a:p>
        </p:txBody>
      </p:sp>
    </p:spTree>
  </p:cSld>
  <p:clrMapOvr>
    <a:masterClrMapping/>
  </p:clrMapOvr>
</p:sld>
</file>

<file path=ppt/theme/theme1.xml><?xml version="1.0" encoding="utf-8"?>
<a:theme xmlns:a="http://schemas.openxmlformats.org/drawingml/2006/main" name="Computer Architecture by Slidesgo">
  <a:themeElements>
    <a:clrScheme name="Simple Light">
      <a:dk1>
        <a:srgbClr val="FFFFFF"/>
      </a:dk1>
      <a:lt1>
        <a:srgbClr val="0E0E0E"/>
      </a:lt1>
      <a:dk2>
        <a:srgbClr val="FFFFFF"/>
      </a:dk2>
      <a:lt2>
        <a:srgbClr val="222222"/>
      </a:lt2>
      <a:accent1>
        <a:srgbClr val="D9D9D9"/>
      </a:accent1>
      <a:accent2>
        <a:srgbClr val="00FFA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TotalTime>
  <Words>721</Words>
  <Application>Microsoft Office PowerPoint</Application>
  <PresentationFormat>On-screen Show (16:9)</PresentationFormat>
  <Paragraphs>41</Paragraphs>
  <Slides>12</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Arial</vt:lpstr>
      <vt:lpstr>Funnel Sans</vt:lpstr>
      <vt:lpstr>Manrope</vt:lpstr>
      <vt:lpstr>OpenSymbol</vt:lpstr>
      <vt:lpstr>Symbol</vt:lpstr>
      <vt:lpstr>Wingdings</vt:lpstr>
      <vt:lpstr>Computer Architecture by Slidesgo</vt:lpstr>
      <vt:lpstr>Slidesgo Final Pages</vt:lpstr>
      <vt:lpstr>Hospital System</vt:lpstr>
      <vt:lpstr>Introduction</vt:lpstr>
      <vt:lpstr>Hospital Management System  Overview</vt:lpstr>
      <vt:lpstr>System Components: Python, HTML, DBMS</vt:lpstr>
      <vt:lpstr>Key Functionalities: Patient and Doctor Data Management</vt:lpstr>
      <vt:lpstr>Appointment Scheduling and  Confirmation</vt:lpstr>
      <vt:lpstr>Technical Implementation and  Benefits</vt:lpstr>
      <vt:lpstr>Database Design and Management</vt:lpstr>
      <vt:lpstr>Frontend and Backend Integration</vt:lpstr>
      <vt:lpstr>Benefits:</vt:lpstr>
      <vt:lpstr>Impact on Hospital Efficiency and Data  Accuracy</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Analjit Singh  Paul</cp:lastModifiedBy>
  <cp:revision>5</cp:revision>
  <dcterms:modified xsi:type="dcterms:W3CDTF">2025-12-03T10:21:57Z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2025-12-03T02:59:31Z</dcterms:created>
  <dc:creator>Unknown Creator</dc:creator>
  <dc:description/>
  <dc:language>en-US</dc:language>
  <cp:lastModifiedBy>Unknown Creator</cp:lastModifiedBy>
  <dcterms:modified xsi:type="dcterms:W3CDTF">2025-12-03T02:59:31Z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